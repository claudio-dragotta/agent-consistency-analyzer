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9" r:id="rId5"/>
    <p:sldId id="275" r:id="rId6"/>
    <p:sldId id="276" r:id="rId7"/>
    <p:sldId id="267" r:id="rId8"/>
    <p:sldId id="316" r:id="rId9"/>
    <p:sldId id="291" r:id="rId10"/>
    <p:sldId id="319" r:id="rId11"/>
    <p:sldId id="320" r:id="rId12"/>
    <p:sldId id="321" r:id="rId13"/>
    <p:sldId id="322" r:id="rId14"/>
    <p:sldId id="324" r:id="rId15"/>
    <p:sldId id="317" r:id="rId16"/>
    <p:sldId id="325" r:id="rId17"/>
    <p:sldId id="31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54D574-D475-16AE-69AC-05E3146B5915}" name="claudio dragotta" initials="cd" userId="S::claudio.dragotta@alcampus.it::1ecfdd9f-26c1-4dfd-ad1c-939506391c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28C"/>
    <a:srgbClr val="FFD2B3"/>
    <a:srgbClr val="061A54"/>
    <a:srgbClr val="7A8BE0"/>
    <a:srgbClr val="4994B4"/>
    <a:srgbClr val="7C3AED"/>
    <a:srgbClr val="C487C4"/>
    <a:srgbClr val="C6B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57885-8B21-46C4-AE6E-19EF46230A8A}" v="25" dt="2026-02-24T15:53:07.611"/>
    <p1510:client id="{FC1CE6B1-04A8-BA4F-BB44-6EDF9A57BE77}" v="2449" dt="2026-02-24T15:46:06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5AC58-0663-7641-A70B-7DA7E9BAEDA4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DE3024-1F70-5D4D-B7C3-5E65D8474B3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51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“Il problema reale non è scrivere codice, ma progettare bene il dominio.”</a:t>
            </a:r>
          </a:p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Naming inconsistenti</a:t>
            </a:r>
          </a:p>
          <a:p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Bounded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mal definiti</a:t>
            </a:r>
          </a:p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Conflitti semantici</a:t>
            </a:r>
          </a:p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“Agent 2 nasce per intercettare questi errori prima che diventino codice.”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E3024-1F70-5D4D-B7C3-5E65D8474B37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055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E3024-1F70-5D4D-B7C3-5E65D8474B37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395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22 regole coprono 7 aree fondamentali del Domain-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Driven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Design:</a:t>
            </a:r>
          </a:p>
          <a:p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 </a:t>
            </a:r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</a:t>
            </a:r>
            <a:b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 che il dominio sia correttamente classificato (Core,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Supporting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Generic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Bounded</a:t>
            </a:r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Integrity</a:t>
            </a:r>
            <a:b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Controlla che i confini tra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siano chiari e non vi siano dipendenze illegittime.</a:t>
            </a:r>
          </a:p>
          <a:p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Value Object</a:t>
            </a:r>
            <a:b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Garantisce che le entità abbiano identità e che i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siano immutabili e senza ID.</a:t>
            </a:r>
          </a:p>
          <a:p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Ownership </a:t>
            </a:r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Clarity</a:t>
            </a:r>
            <a:b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Ogni entità deve avere una responsabilità chiara e un contesto di appartenenza definito.</a:t>
            </a:r>
          </a:p>
          <a:p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Requirement</a:t>
            </a:r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</a:t>
            </a:r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Resolution</a:t>
            </a:r>
            <a:b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Identifica conflitti tra requisiti modellati nel sistema.</a:t>
            </a:r>
          </a:p>
          <a:p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 Architecture Patterns</a:t>
            </a:r>
            <a:b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 che gli eventi rispettino pattern corretti (event naming, event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consistency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it-IT" sz="1200" b="1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</a:t>
            </a:r>
            <a:r>
              <a:rPr lang="it-IT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Patterns</a:t>
            </a:r>
            <a:b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Analizza le modalità di interazione tra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bounded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(REST, eventi, sincronizzazione).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E3024-1F70-5D4D-B7C3-5E65D8474B37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79297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possiamo sostituire il motore LLM senza toccare la pipeline,</a:t>
            </a:r>
          </a:p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possiamo scalare ogni componente indipendentemente.”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DE3024-1F70-5D4D-B7C3-5E65D8474B37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722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F4D37C-9363-CCB5-423A-F4B48DC3C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B3E19E8-6796-F838-BD23-B62DF545C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83565D-824A-34DF-3AFC-4FC70E88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4E4ED0-8B06-792D-4CA5-0F307070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088606-38F7-EAB3-9580-75FF0CEC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859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A4C56F-7369-97D5-44DA-915D6DD7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3D7B9C-CFB0-9F1C-E6EB-8CEE9DCA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F5EB66-4A67-163C-7CFD-EB338610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46BAA8-2ACB-9A60-C0BF-AA681DB0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A9CBBE-841C-6C85-56DE-986BE9D6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8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584FE0-4DB8-44F2-F29F-1F55CA152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E25BF7E-0CDE-6313-A41E-8CE59EC68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A61CA1-F311-F227-7E85-D94055071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7524C6-58A2-7B3C-5795-DAF0F9D7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E8A028-8F38-7A6B-2064-600D9ABE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066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45C891-D9E0-9E0C-5CE0-EB7C59B9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18D583-BD94-DF9F-D461-DE3263460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14E285C-F2CC-93AD-7116-9C52F79A0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CA0BCC-CEFA-187C-D245-15D31365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2AA756B-9291-855F-726E-B3DC6360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FBA1A8E-049B-26DF-FE14-4D4BC33D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5692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AC7FF8-54D8-1EF2-6BE3-07EB4DD84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AEDF09E-B832-23DC-CF75-042FD2624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DC5E692-6170-CBE6-3264-160C22408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75570C6-9E44-9C60-5D7A-A8896831C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9A7DCB9-DD68-A4AA-3200-270E90771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378B0D1-A4D7-667C-2A1E-6377CB415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149F080-26A9-843B-094E-9AD3AF77B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9990AE8-15DB-9E9E-E7C4-243CF533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207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6E27A5-C315-D280-B4BA-25390E56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7249DC1-9F3E-5210-3F7F-2F81C913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00631E2-A29F-6596-19DD-93F653BED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9650690-D558-F8D8-4E8E-2D402EFC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749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868CCFC-B91E-03A3-B24D-D8429406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A932231-F494-FF35-EB48-4081B5AE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8C8B25-F397-5FEA-F2E3-CBF6C85B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211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D5AA88-BFEC-E309-D663-80E0B9EC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995AE0-57DA-22E1-F186-B030694F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2D29D63-AC73-46FB-9707-F34BBB01E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F7DB86F-8C8E-4202-66B4-53EB3CD8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AD0CCF4-EB8F-E59A-1FDF-00E07D2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D2B438A-E25A-5481-5E29-AA37D5D3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377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FBFE50-DB5A-8CB8-01BE-92064BF1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99C7DD6-A927-DD52-98CC-A319E92942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A92B7BF-047E-31B7-B054-98F08AEC1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B8FE819-E111-2437-E4D7-2CB8D613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D6477E-F78E-4F5C-E15B-FC7AA1C3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73974D-345E-EDB3-CBBD-1FBD1D5D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599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CD721E-0E45-5CE4-418E-56DBACBE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76EAD7C-F638-7B8F-3D46-7686EF83D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F923152-D847-180A-B253-22889154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C5EB42-5954-E48D-0742-2286B32B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6286D5-CF17-C4CA-E528-755F8A51E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4103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423BBDA-02A5-7FA0-13CD-BAFC05362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9254186-8F65-104A-DB3C-D6AFBAF4B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DE51DD6-4F06-5962-D0F4-10A4F867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322D6C-9030-D236-F3A6-3C76CF14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129D89-E4A5-2924-53B6-803EAC6C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1002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79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55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46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88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723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82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97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839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3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64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794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217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55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30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963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409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3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40012AB-5993-025F-50F3-BC87F0BC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13C22-CEE6-D6F2-49AD-B17B590C0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370517-C6B9-D67B-56D0-778DB9E37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AA197-E54A-C84C-8326-BFF10E2FEA70}" type="datetimeFigureOut">
              <a:rPr lang="it-IT" smtClean="0"/>
              <a:t>24/02/2026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8FAF4B1-0199-2699-3BB4-7A02D747B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00DBDC-A38B-D6E4-B935-4C6128E2D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39B6D-B78A-5B49-8D19-07E21B124D1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016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45455-CD69-AD1F-DE90-9626035E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173DA8FB-73FD-4B2A-BF9A-FDB5DF3F18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2" r="33200"/>
          <a:stretch>
            <a:fillRect/>
          </a:stretch>
        </p:blipFill>
        <p:spPr>
          <a:xfrm>
            <a:off x="7961086" y="0"/>
            <a:ext cx="4230914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DD440A35-DCD6-4A39-F4AB-A6016DB9CEEF}"/>
              </a:ext>
            </a:extLst>
          </p:cNvPr>
          <p:cNvSpPr/>
          <p:nvPr/>
        </p:nvSpPr>
        <p:spPr>
          <a:xfrm>
            <a:off x="637672" y="10365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lnSpc>
                <a:spcPts val="5550"/>
              </a:lnSpc>
            </a:pPr>
            <a:r>
              <a:rPr lang="en-US" sz="4450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 2: Consistency &amp; Conflict Analyzer</a:t>
            </a:r>
            <a:endParaRPr lang="en-US" sz="445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943FDBDC-9A57-B5A6-5B2C-33F095EB7E8C}"/>
              </a:ext>
            </a:extLst>
          </p:cNvPr>
          <p:cNvSpPr/>
          <p:nvPr/>
        </p:nvSpPr>
        <p:spPr>
          <a:xfrm>
            <a:off x="637672" y="314405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914400">
              <a:lnSpc>
                <a:spcPts val="2850"/>
              </a:lnSpc>
            </a:pPr>
            <a:r>
              <a:rPr lang="en-US" sz="1750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</a:t>
            </a:r>
            <a:r>
              <a:rPr lang="en-US" sz="1750" err="1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</a:t>
            </a:r>
            <a:r>
              <a:rPr lang="en-US" sz="1750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err="1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intelligente</a:t>
            </a:r>
            <a:r>
              <a:rPr lang="en-US" sz="1750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 la </a:t>
            </a:r>
            <a:r>
              <a:rPr lang="en-US" sz="1750" err="1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validazione</a:t>
            </a:r>
            <a:r>
              <a:rPr lang="en-US" sz="1750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750" err="1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automatica</a:t>
            </a:r>
            <a:r>
              <a:rPr lang="en-US" sz="1750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 </a:t>
            </a:r>
            <a:r>
              <a:rPr lang="en-US" sz="1750" err="1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architetture</a:t>
            </a:r>
            <a:r>
              <a:rPr lang="en-US" sz="1750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Domain-Driven Design in </a:t>
            </a:r>
            <a:r>
              <a:rPr lang="en-US" sz="1750" err="1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ambienti</a:t>
            </a:r>
            <a:r>
              <a:rPr lang="en-US" sz="1750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enterprise </a:t>
            </a:r>
            <a:r>
              <a:rPr lang="en-US" sz="1750" err="1">
                <a:solidFill>
                  <a:srgbClr val="203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complessi</a:t>
            </a:r>
            <a:endParaRPr lang="en-US" sz="1750">
              <a:solidFill>
                <a:srgbClr val="20328C"/>
              </a:solidFill>
              <a:latin typeface="Calibri" panose="020F0502020204030204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BBF80D4-CA24-0AB0-E56E-03F5B762D172}"/>
              </a:ext>
            </a:extLst>
          </p:cNvPr>
          <p:cNvSpPr/>
          <p:nvPr/>
        </p:nvSpPr>
        <p:spPr>
          <a:xfrm>
            <a:off x="637673" y="4262935"/>
            <a:ext cx="3953589" cy="441484"/>
          </a:xfrm>
          <a:prstGeom prst="roundRect">
            <a:avLst>
              <a:gd name="adj" fmla="val 2071"/>
            </a:avLst>
          </a:prstGeom>
          <a:noFill/>
          <a:ln w="7620">
            <a:solidFill>
              <a:srgbClr val="FF8633"/>
            </a:solidFill>
            <a:prstDash val="solid"/>
          </a:ln>
        </p:spPr>
        <p:txBody>
          <a:bodyPr/>
          <a:lstStyle/>
          <a:p>
            <a:pPr defTabSz="914400"/>
            <a:endParaRPr lang="en-GB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06648A1-B935-556A-6A6C-71E3D0072641}"/>
              </a:ext>
            </a:extLst>
          </p:cNvPr>
          <p:cNvSpPr/>
          <p:nvPr/>
        </p:nvSpPr>
        <p:spPr>
          <a:xfrm>
            <a:off x="749710" y="4338539"/>
            <a:ext cx="36661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ts val="2250"/>
              </a:lnSpc>
            </a:pPr>
            <a:r>
              <a:rPr lang="en-US" sz="1400" b="1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UNIVERSITÀ CAMPUS BIO-MEDICO DI ROMA</a:t>
            </a:r>
          </a:p>
          <a:p>
            <a:pPr defTabSz="914400">
              <a:lnSpc>
                <a:spcPts val="2250"/>
              </a:lnSpc>
            </a:pPr>
            <a:endParaRPr lang="en-US" sz="1400" b="1">
              <a:solidFill>
                <a:srgbClr val="FF8633"/>
              </a:solidFill>
              <a:latin typeface="DM Sans" pitchFamily="34" charset="0"/>
            </a:endParaRPr>
          </a:p>
          <a:p>
            <a:pPr defTabSz="914400">
              <a:lnSpc>
                <a:spcPts val="2250"/>
              </a:lnSpc>
            </a:pPr>
            <a:endParaRPr lang="en-US" sz="1400" b="1">
              <a:solidFill>
                <a:srgbClr val="FF8633"/>
              </a:solidFill>
              <a:latin typeface="DM Sans" pitchFamily="34" charset="0"/>
            </a:endParaRPr>
          </a:p>
          <a:p>
            <a:pPr defTabSz="914400">
              <a:lnSpc>
                <a:spcPts val="2250"/>
              </a:lnSpc>
            </a:pPr>
            <a:endParaRPr lang="en-US" sz="1400" b="1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A8C1D734-50A0-DDEE-1598-1DE97C2A4FF6}"/>
              </a:ext>
            </a:extLst>
          </p:cNvPr>
          <p:cNvSpPr/>
          <p:nvPr/>
        </p:nvSpPr>
        <p:spPr>
          <a:xfrm>
            <a:off x="4704610" y="4338539"/>
            <a:ext cx="101965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ts val="2250"/>
              </a:lnSpc>
            </a:pPr>
            <a:r>
              <a:rPr lang="en-US" sz="1400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26/02/2026</a:t>
            </a:r>
            <a:endParaRPr lang="en-US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81D6909B-86AF-83B1-E52E-0D5A15D04A7B}"/>
              </a:ext>
            </a:extLst>
          </p:cNvPr>
          <p:cNvSpPr/>
          <p:nvPr/>
        </p:nvSpPr>
        <p:spPr>
          <a:xfrm>
            <a:off x="404665" y="566351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defTabSz="914400">
              <a:lnSpc>
                <a:spcPts val="2850"/>
              </a:lnSpc>
            </a:pPr>
            <a:r>
              <a:rPr lang="en-US" sz="1750" b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Claudio Dragotta</a:t>
            </a:r>
            <a:r>
              <a:rPr lang="en-US" sz="17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750" b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Matteo Grande</a:t>
            </a:r>
            <a:endParaRPr lang="en-US" sz="175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25092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06CF-AE76-DF3E-A639-73B69766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0F6F3E2-58CA-6E5E-7857-7EDD8079A7B4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20328C"/>
              </a:solidFill>
            </a:endParaRPr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2D1344EE-5152-1F8C-27CB-01D244C89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722D8A4-854E-1122-D4C1-AA50E3002810}"/>
              </a:ext>
            </a:extLst>
          </p:cNvPr>
          <p:cNvSpPr txBox="1"/>
          <p:nvPr/>
        </p:nvSpPr>
        <p:spPr>
          <a:xfrm>
            <a:off x="3673054" y="-87844"/>
            <a:ext cx="4845891" cy="680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000"/>
              </a:lnSpc>
            </a:pPr>
            <a:r>
              <a:rPr lang="it-IT" sz="3200" b="1">
                <a:solidFill>
                  <a:srgbClr val="20328C"/>
                </a:solidFill>
                <a:latin typeface="Libre Baskerville" panose="02000000000000000000" pitchFamily="2" charset="0"/>
              </a:rPr>
              <a:t>Perché microservizi</a:t>
            </a:r>
            <a:r>
              <a:rPr lang="it-IT" sz="2000" b="1">
                <a:solidFill>
                  <a:srgbClr val="20328C"/>
                </a:solidFill>
                <a:latin typeface="Libre Baskerville" panose="02000000000000000000" pitchFamily="2" charset="0"/>
              </a:rPr>
              <a:t> </a:t>
            </a:r>
            <a:r>
              <a:rPr lang="it-IT" sz="3200">
                <a:solidFill>
                  <a:srgbClr val="20328C"/>
                </a:solidFill>
                <a:latin typeface="Libre Baskerville" panose="02000000000000000000" pitchFamily="2" charset="0"/>
              </a:rPr>
              <a:t>?</a:t>
            </a:r>
            <a:endParaRPr lang="it-IT" sz="2000">
              <a:solidFill>
                <a:srgbClr val="20328C"/>
              </a:solidFill>
            </a:endParaRPr>
          </a:p>
        </p:txBody>
      </p:sp>
      <p:cxnSp>
        <p:nvCxnSpPr>
          <p:cNvPr id="11" name="Connettore diritto a freccia 10">
            <a:extLst>
              <a:ext uri="{FF2B5EF4-FFF2-40B4-BE49-F238E27FC236}">
                <a16:creationId xmlns:a16="http://schemas.microsoft.com/office/drawing/2014/main" id="{DDCB6972-8BC2-04CF-C266-CE5585045654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380330" y="592599"/>
            <a:ext cx="2715670" cy="1365987"/>
          </a:xfrm>
          <a:prstGeom prst="straightConnector1">
            <a:avLst/>
          </a:prstGeom>
          <a:ln w="28575">
            <a:solidFill>
              <a:srgbClr val="20328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Connettore diritto a freccia 13">
            <a:extLst>
              <a:ext uri="{FF2B5EF4-FFF2-40B4-BE49-F238E27FC236}">
                <a16:creationId xmlns:a16="http://schemas.microsoft.com/office/drawing/2014/main" id="{BA6106B8-6A31-3B3B-A0A0-8B3320FB9A9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096000" y="592599"/>
            <a:ext cx="2882818" cy="1365987"/>
          </a:xfrm>
          <a:prstGeom prst="straightConnector1">
            <a:avLst/>
          </a:prstGeom>
          <a:ln w="28575">
            <a:solidFill>
              <a:srgbClr val="20328C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F458886C-5A07-6FA1-6A02-563CEC988621}"/>
              </a:ext>
            </a:extLst>
          </p:cNvPr>
          <p:cNvSpPr/>
          <p:nvPr/>
        </p:nvSpPr>
        <p:spPr>
          <a:xfrm>
            <a:off x="1148456" y="2092820"/>
            <a:ext cx="4386805" cy="3090441"/>
          </a:xfrm>
          <a:prstGeom prst="roundRect">
            <a:avLst/>
          </a:prstGeom>
          <a:noFill/>
          <a:ln w="28575" cap="flat" cmpd="sng" algn="ctr">
            <a:solidFill>
              <a:srgbClr val="20328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20328C"/>
              </a:solidFill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960E50E5-17C0-DCCB-4EED-411FDA8C79CE}"/>
              </a:ext>
            </a:extLst>
          </p:cNvPr>
          <p:cNvSpPr/>
          <p:nvPr/>
        </p:nvSpPr>
        <p:spPr>
          <a:xfrm>
            <a:off x="6833060" y="2092820"/>
            <a:ext cx="4386805" cy="3090441"/>
          </a:xfrm>
          <a:prstGeom prst="roundRect">
            <a:avLst/>
          </a:prstGeom>
          <a:noFill/>
          <a:ln w="28575" cap="flat" cmpd="sng" algn="ctr">
            <a:solidFill>
              <a:srgbClr val="20328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20328C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AD851C3-DEF6-CD6B-157C-A9ECF9A81BF4}"/>
              </a:ext>
            </a:extLst>
          </p:cNvPr>
          <p:cNvSpPr txBox="1"/>
          <p:nvPr/>
        </p:nvSpPr>
        <p:spPr>
          <a:xfrm>
            <a:off x="2224901" y="2231771"/>
            <a:ext cx="2503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FF0000"/>
                </a:solidFill>
              </a:rPr>
              <a:t>SISTEMI MONOLITICI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41F2EAE-4C00-149F-5210-3B234BE3D7F1}"/>
              </a:ext>
            </a:extLst>
          </p:cNvPr>
          <p:cNvSpPr txBox="1"/>
          <p:nvPr/>
        </p:nvSpPr>
        <p:spPr>
          <a:xfrm>
            <a:off x="7608481" y="2231771"/>
            <a:ext cx="283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chemeClr val="accent6"/>
                </a:solidFill>
              </a:rPr>
              <a:t>SISTEMI A MICROSERVIZI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B953733-1A00-264A-890F-DB6903E20F77}"/>
              </a:ext>
            </a:extLst>
          </p:cNvPr>
          <p:cNvSpPr txBox="1"/>
          <p:nvPr/>
        </p:nvSpPr>
        <p:spPr>
          <a:xfrm>
            <a:off x="1379949" y="2624483"/>
            <a:ext cx="3923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>
                <a:solidFill>
                  <a:srgbClr val="20328C"/>
                </a:solidFill>
              </a:rPr>
              <a:t>Deploy</a:t>
            </a:r>
            <a:r>
              <a:rPr lang="it-IT" sz="1600">
                <a:solidFill>
                  <a:srgbClr val="20328C"/>
                </a:solidFill>
              </a:rPr>
              <a:t> unico dell’intera applicazione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20328C"/>
                </a:solidFill>
              </a:rPr>
              <a:t>Guasto in un modulo </a:t>
            </a:r>
            <a:r>
              <a:rPr lang="it-IT" sz="1600">
                <a:solidFill>
                  <a:srgbClr val="20328C"/>
                </a:solidFill>
                <a:sym typeface="Wingdings" pitchFamily="2" charset="2"/>
              </a:rPr>
              <a:t> blocco totale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20328C"/>
                </a:solidFill>
                <a:sym typeface="Wingdings" pitchFamily="2" charset="2"/>
              </a:rPr>
              <a:t>Scalabilità verticale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20328C"/>
                </a:solidFill>
                <a:sym typeface="Wingdings" pitchFamily="2" charset="2"/>
              </a:rPr>
              <a:t>Alta dipendenza tra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20328C"/>
              </a:solidFill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20328C"/>
              </a:solidFill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20328C"/>
              </a:solidFill>
              <a:sym typeface="Wingdings" pitchFamily="2" charset="2"/>
            </a:endParaRPr>
          </a:p>
          <a:p>
            <a:r>
              <a:rPr lang="it-IT" sz="1600" b="1">
                <a:solidFill>
                  <a:srgbClr val="20328C"/>
                </a:solidFill>
                <a:sym typeface="Wingdings" pitchFamily="2" charset="2"/>
              </a:rPr>
              <a:t>Effetto</a:t>
            </a:r>
            <a:r>
              <a:rPr lang="it-IT" sz="1600">
                <a:solidFill>
                  <a:srgbClr val="20328C"/>
                </a:solidFill>
                <a:sym typeface="Wingdings" pitchFamily="2" charset="2"/>
              </a:rPr>
              <a:t>: rilascio lento, maggiore rischio, costi operativi crescenti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2DD565F-5305-3DCF-35A2-6EF5261F2C87}"/>
              </a:ext>
            </a:extLst>
          </p:cNvPr>
          <p:cNvSpPr txBox="1"/>
          <p:nvPr/>
        </p:nvSpPr>
        <p:spPr>
          <a:xfrm>
            <a:off x="7087069" y="2588471"/>
            <a:ext cx="39238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err="1">
                <a:solidFill>
                  <a:srgbClr val="20328C"/>
                </a:solidFill>
              </a:rPr>
              <a:t>Deploy</a:t>
            </a:r>
            <a:r>
              <a:rPr lang="it-IT" sz="1600">
                <a:solidFill>
                  <a:srgbClr val="20328C"/>
                </a:solidFill>
              </a:rPr>
              <a:t> indipendente per servizio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20328C"/>
                </a:solidFill>
              </a:rPr>
              <a:t>Fault </a:t>
            </a:r>
            <a:r>
              <a:rPr lang="it-IT" sz="1600" err="1">
                <a:solidFill>
                  <a:srgbClr val="20328C"/>
                </a:solidFill>
              </a:rPr>
              <a:t>isolation</a:t>
            </a:r>
            <a:r>
              <a:rPr lang="it-IT" sz="1600">
                <a:solidFill>
                  <a:srgbClr val="20328C"/>
                </a:solidFill>
              </a:rPr>
              <a:t>: errore confinato</a:t>
            </a:r>
            <a:endParaRPr lang="it-IT" sz="1600">
              <a:solidFill>
                <a:srgbClr val="20328C"/>
              </a:solidFill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20328C"/>
                </a:solidFill>
                <a:sym typeface="Wingdings" pitchFamily="2" charset="2"/>
              </a:rPr>
              <a:t>Scalabilità orizzontale selettiva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>
                <a:solidFill>
                  <a:srgbClr val="20328C"/>
                </a:solidFill>
                <a:sym typeface="Wingdings" pitchFamily="2" charset="2"/>
              </a:rPr>
              <a:t>Team autonomi e sviluppo parallelo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20328C"/>
              </a:solidFill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20328C"/>
              </a:solidFill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>
              <a:solidFill>
                <a:srgbClr val="20328C"/>
              </a:solidFill>
              <a:sym typeface="Wingdings" pitchFamily="2" charset="2"/>
            </a:endParaRPr>
          </a:p>
          <a:p>
            <a:r>
              <a:rPr lang="it-IT" sz="1600" b="1">
                <a:solidFill>
                  <a:srgbClr val="20328C"/>
                </a:solidFill>
                <a:sym typeface="Wingdings" pitchFamily="2" charset="2"/>
              </a:rPr>
              <a:t>Effetto</a:t>
            </a:r>
            <a:r>
              <a:rPr lang="it-IT" sz="1600">
                <a:solidFill>
                  <a:srgbClr val="20328C"/>
                </a:solidFill>
                <a:sym typeface="Wingdings" pitchFamily="2" charset="2"/>
              </a:rPr>
              <a:t>: time to market ridotto, maggiore resilienza, costi più controllabili</a:t>
            </a:r>
          </a:p>
        </p:txBody>
      </p:sp>
    </p:spTree>
    <p:extLst>
      <p:ext uri="{BB962C8B-B14F-4D97-AF65-F5344CB8AC3E}">
        <p14:creationId xmlns:p14="http://schemas.microsoft.com/office/powerpoint/2010/main" val="196476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DF089-F9F2-8BFA-C429-ACAE0AEC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86A987EB-6EA2-8C27-0E82-C0808F018AAC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20328C"/>
              </a:solidFill>
            </a:endParaRPr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E47AFEED-ECD0-B346-2389-5D8773C2F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45865" y="147818"/>
            <a:ext cx="5806633" cy="836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b="1">
                <a:solidFill>
                  <a:srgbClr val="20328C"/>
                </a:solidFill>
                <a:latin typeface="Libre Baskerville" panose="02000000000000000000" pitchFamily="2" charset="0"/>
                <a:ea typeface="Libre Baskerville" pitchFamily="34" charset="-122"/>
                <a:cs typeface="Libre Baskerville" pitchFamily="34" charset="-120"/>
              </a:rPr>
              <a:t>La </a:t>
            </a:r>
            <a:r>
              <a:rPr lang="en-US" sz="3200" b="1" err="1">
                <a:solidFill>
                  <a:srgbClr val="20328C"/>
                </a:solidFill>
                <a:latin typeface="Libre Baskerville" panose="02000000000000000000" pitchFamily="2" charset="0"/>
                <a:ea typeface="Libre Baskerville" pitchFamily="34" charset="-122"/>
                <a:cs typeface="Libre Baskerville" pitchFamily="34" charset="-120"/>
              </a:rPr>
              <a:t>Sfida</a:t>
            </a:r>
            <a:r>
              <a:rPr lang="en-US" sz="3200" b="1">
                <a:solidFill>
                  <a:srgbClr val="20328C"/>
                </a:solidFill>
                <a:latin typeface="Libre Baskerville" panose="02000000000000000000" pitchFamily="2" charset="0"/>
                <a:ea typeface="Libre Baskerville" pitchFamily="34" charset="-122"/>
                <a:cs typeface="Libre Baskerville" pitchFamily="34" charset="-120"/>
              </a:rPr>
              <a:t> della </a:t>
            </a:r>
            <a:r>
              <a:rPr lang="en-US" sz="3200" b="1" err="1">
                <a:solidFill>
                  <a:srgbClr val="20328C"/>
                </a:solidFill>
                <a:latin typeface="Libre Baskerville" panose="02000000000000000000" pitchFamily="2" charset="0"/>
                <a:ea typeface="Libre Baskerville" pitchFamily="34" charset="-122"/>
                <a:cs typeface="Libre Baskerville" pitchFamily="34" charset="-120"/>
              </a:rPr>
              <a:t>Complessità</a:t>
            </a:r>
            <a:endParaRPr lang="en-US" sz="3200" b="1">
              <a:solidFill>
                <a:srgbClr val="20328C"/>
              </a:solidFill>
              <a:latin typeface="Libre Baskerville" panose="02000000000000000000" pitchFamily="2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2129287" y="1781589"/>
            <a:ext cx="1498991" cy="712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400">
                <a:solidFill>
                  <a:srgbClr val="20328C"/>
                </a:solidFill>
                <a:ea typeface="Libre Baskerville" pitchFamily="34" charset="-122"/>
                <a:cs typeface="Libre Baskerville" pitchFamily="34" charset="-120"/>
              </a:rPr>
              <a:t>85%</a:t>
            </a:r>
            <a:endParaRPr lang="en-US" sz="4400">
              <a:solidFill>
                <a:srgbClr val="20328C"/>
              </a:solidFill>
            </a:endParaRPr>
          </a:p>
        </p:txBody>
      </p:sp>
      <p:sp>
        <p:nvSpPr>
          <p:cNvPr id="8" name="Text 2"/>
          <p:cNvSpPr/>
          <p:nvPr/>
        </p:nvSpPr>
        <p:spPr>
          <a:xfrm>
            <a:off x="1184803" y="2440706"/>
            <a:ext cx="3149867" cy="417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b="1" err="1">
                <a:solidFill>
                  <a:srgbClr val="20328C"/>
                </a:solidFill>
                <a:ea typeface="Libre Baskerville" pitchFamily="34" charset="-122"/>
                <a:cs typeface="Libre Baskerville" pitchFamily="34" charset="-120"/>
              </a:rPr>
              <a:t>Adozione</a:t>
            </a:r>
            <a:r>
              <a:rPr lang="en-US" sz="1600" b="1">
                <a:solidFill>
                  <a:srgbClr val="20328C"/>
                </a:solidFill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1600" b="1" err="1">
                <a:solidFill>
                  <a:srgbClr val="20328C"/>
                </a:solidFill>
                <a:ea typeface="Libre Baskerville" pitchFamily="34" charset="-122"/>
                <a:cs typeface="Libre Baskerville" pitchFamily="34" charset="-120"/>
              </a:rPr>
              <a:t>Microservizi</a:t>
            </a:r>
            <a:endParaRPr lang="en-US" sz="1600" b="1">
              <a:solidFill>
                <a:srgbClr val="20328C"/>
              </a:solidFill>
            </a:endParaRPr>
          </a:p>
        </p:txBody>
      </p:sp>
      <p:sp>
        <p:nvSpPr>
          <p:cNvPr id="9" name="Text 3"/>
          <p:cNvSpPr/>
          <p:nvPr/>
        </p:nvSpPr>
        <p:spPr>
          <a:xfrm>
            <a:off x="420174" y="2793861"/>
            <a:ext cx="4917215" cy="40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delle aziende enterprise utilizzano architetture a microservizi</a:t>
            </a:r>
            <a:endParaRPr lang="en-US" sz="1200">
              <a:solidFill>
                <a:srgbClr val="20328C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8251406" y="1722769"/>
            <a:ext cx="1696674" cy="6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400">
                <a:solidFill>
                  <a:srgbClr val="20328C"/>
                </a:solidFill>
                <a:ea typeface="Libre Baskerville" pitchFamily="34" charset="-122"/>
                <a:cs typeface="Libre Baskerville" pitchFamily="34" charset="-120"/>
              </a:rPr>
              <a:t>100×</a:t>
            </a:r>
            <a:endParaRPr lang="en-US" sz="4400">
              <a:solidFill>
                <a:srgbClr val="20328C"/>
              </a:solidFill>
            </a:endParaRPr>
          </a:p>
        </p:txBody>
      </p:sp>
      <p:sp>
        <p:nvSpPr>
          <p:cNvPr id="11" name="Text 5"/>
          <p:cNvSpPr/>
          <p:nvPr/>
        </p:nvSpPr>
        <p:spPr>
          <a:xfrm>
            <a:off x="7992018" y="2318953"/>
            <a:ext cx="2215449" cy="306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b="1">
                <a:solidFill>
                  <a:srgbClr val="20328C"/>
                </a:solidFill>
                <a:ea typeface="Libre Baskerville" pitchFamily="34" charset="-122"/>
                <a:cs typeface="Libre Baskerville" pitchFamily="34" charset="-120"/>
              </a:rPr>
              <a:t>Costo degli </a:t>
            </a:r>
            <a:r>
              <a:rPr lang="en-US" sz="1600" b="1" err="1">
                <a:solidFill>
                  <a:srgbClr val="20328C"/>
                </a:solidFill>
                <a:ea typeface="Libre Baskerville" pitchFamily="34" charset="-122"/>
                <a:cs typeface="Libre Baskerville" pitchFamily="34" charset="-120"/>
              </a:rPr>
              <a:t>Errori</a:t>
            </a:r>
            <a:endParaRPr lang="en-US" sz="1600" b="1">
              <a:solidFill>
                <a:srgbClr val="20328C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6691270" y="2707588"/>
            <a:ext cx="4917215" cy="316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Un errore di design può costare fino a 100 volte di più in produzione</a:t>
            </a:r>
            <a:endParaRPr lang="en-US" sz="1200">
              <a:solidFill>
                <a:srgbClr val="20328C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1B6F67-EEB3-7A2D-DDE0-8C429D006E92}"/>
              </a:ext>
            </a:extLst>
          </p:cNvPr>
          <p:cNvGrpSpPr/>
          <p:nvPr/>
        </p:nvGrpSpPr>
        <p:grpSpPr>
          <a:xfrm>
            <a:off x="245865" y="4183436"/>
            <a:ext cx="2843916" cy="417846"/>
            <a:chOff x="240777" y="4703020"/>
            <a:chExt cx="2843916" cy="417846"/>
          </a:xfrm>
        </p:grpSpPr>
        <p:sp>
          <p:nvSpPr>
            <p:cNvPr id="15" name="Shape 9"/>
            <p:cNvSpPr/>
            <p:nvPr/>
          </p:nvSpPr>
          <p:spPr>
            <a:xfrm>
              <a:off x="240777" y="4811427"/>
              <a:ext cx="108455" cy="133718"/>
            </a:xfrm>
            <a:prstGeom prst="roundRect">
              <a:avLst>
                <a:gd name="adj" fmla="val 448073"/>
              </a:avLst>
            </a:prstGeom>
            <a:solidFill>
              <a:srgbClr val="FF8633"/>
            </a:solidFill>
            <a:ln/>
          </p:spPr>
          <p:txBody>
            <a:bodyPr/>
            <a:lstStyle/>
            <a:p>
              <a:endParaRPr lang="en-GB" sz="1400">
                <a:solidFill>
                  <a:srgbClr val="20328C"/>
                </a:solidFill>
              </a:endParaRPr>
            </a:p>
          </p:txBody>
        </p:sp>
        <p:sp>
          <p:nvSpPr>
            <p:cNvPr id="16" name="Text 10"/>
            <p:cNvSpPr/>
            <p:nvPr/>
          </p:nvSpPr>
          <p:spPr>
            <a:xfrm>
              <a:off x="372441" y="4703020"/>
              <a:ext cx="2712252" cy="4178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b="1" err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Revisioni</a:t>
              </a:r>
              <a:r>
                <a:rPr lang="en-US" sz="1600" b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 </a:t>
              </a:r>
              <a:r>
                <a:rPr lang="en-US" sz="1600" b="1" err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Inefficaci</a:t>
              </a:r>
              <a:endParaRPr lang="en-US" sz="1600" b="1">
                <a:solidFill>
                  <a:srgbClr val="20328C"/>
                </a:solidFill>
              </a:endParaRPr>
            </a:p>
          </p:txBody>
        </p:sp>
      </p:grpSp>
      <p:sp>
        <p:nvSpPr>
          <p:cNvPr id="17" name="Text 11"/>
          <p:cNvSpPr/>
          <p:nvPr/>
        </p:nvSpPr>
        <p:spPr>
          <a:xfrm>
            <a:off x="139745" y="4714857"/>
            <a:ext cx="2979022" cy="406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Processi</a:t>
            </a: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manuali</a:t>
            </a: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lenti</a:t>
            </a: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 e non </a:t>
            </a: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scalabili</a:t>
            </a:r>
            <a:endParaRPr lang="en-US" sz="1200">
              <a:solidFill>
                <a:srgbClr val="20328C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D8D504B-EF37-3A94-9CB6-1E40633E3C18}"/>
              </a:ext>
            </a:extLst>
          </p:cNvPr>
          <p:cNvGrpSpPr/>
          <p:nvPr/>
        </p:nvGrpSpPr>
        <p:grpSpPr>
          <a:xfrm>
            <a:off x="3428794" y="4175551"/>
            <a:ext cx="2965002" cy="417846"/>
            <a:chOff x="3558810" y="4703020"/>
            <a:chExt cx="2965002" cy="417846"/>
          </a:xfrm>
        </p:grpSpPr>
        <p:sp>
          <p:nvSpPr>
            <p:cNvPr id="18" name="Shape 12"/>
            <p:cNvSpPr/>
            <p:nvPr/>
          </p:nvSpPr>
          <p:spPr>
            <a:xfrm>
              <a:off x="3558810" y="4811427"/>
              <a:ext cx="108455" cy="133718"/>
            </a:xfrm>
            <a:prstGeom prst="roundRect">
              <a:avLst>
                <a:gd name="adj" fmla="val 448073"/>
              </a:avLst>
            </a:prstGeom>
            <a:solidFill>
              <a:srgbClr val="FF8633"/>
            </a:solidFill>
            <a:ln/>
          </p:spPr>
          <p:txBody>
            <a:bodyPr/>
            <a:lstStyle/>
            <a:p>
              <a:endParaRPr lang="en-GB" sz="1400">
                <a:solidFill>
                  <a:srgbClr val="20328C"/>
                </a:solidFill>
              </a:endParaRPr>
            </a:p>
          </p:txBody>
        </p:sp>
        <p:sp>
          <p:nvSpPr>
            <p:cNvPr id="19" name="Text 13"/>
            <p:cNvSpPr/>
            <p:nvPr/>
          </p:nvSpPr>
          <p:spPr>
            <a:xfrm>
              <a:off x="3682857" y="4703020"/>
              <a:ext cx="2840955" cy="4178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b="1" err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Incoerenze</a:t>
              </a:r>
              <a:r>
                <a:rPr lang="en-US" sz="1600" b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 </a:t>
              </a:r>
              <a:r>
                <a:rPr lang="en-US" sz="1600" b="1" err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Nascoste</a:t>
              </a:r>
              <a:endParaRPr lang="en-US" sz="1600" b="1">
                <a:solidFill>
                  <a:srgbClr val="20328C"/>
                </a:solidFill>
              </a:endParaRPr>
            </a:p>
          </p:txBody>
        </p:sp>
      </p:grpSp>
      <p:sp>
        <p:nvSpPr>
          <p:cNvPr id="20" name="Text 14"/>
          <p:cNvSpPr/>
          <p:nvPr/>
        </p:nvSpPr>
        <p:spPr>
          <a:xfrm>
            <a:off x="3328244" y="4697578"/>
            <a:ext cx="2979148" cy="81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Conflitti rilevati solo in fase di codice</a:t>
            </a:r>
            <a:endParaRPr lang="en-US" sz="1200">
              <a:solidFill>
                <a:srgbClr val="20328C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B71D4C-A656-E5BD-826F-F9F5FB9C38E2}"/>
              </a:ext>
            </a:extLst>
          </p:cNvPr>
          <p:cNvGrpSpPr/>
          <p:nvPr/>
        </p:nvGrpSpPr>
        <p:grpSpPr>
          <a:xfrm>
            <a:off x="6349125" y="4167061"/>
            <a:ext cx="3094900" cy="835693"/>
            <a:chOff x="6876963" y="4703020"/>
            <a:chExt cx="3094900" cy="835693"/>
          </a:xfrm>
        </p:grpSpPr>
        <p:sp>
          <p:nvSpPr>
            <p:cNvPr id="21" name="Shape 15"/>
            <p:cNvSpPr/>
            <p:nvPr/>
          </p:nvSpPr>
          <p:spPr>
            <a:xfrm>
              <a:off x="6876963" y="4811427"/>
              <a:ext cx="108455" cy="133718"/>
            </a:xfrm>
            <a:prstGeom prst="roundRect">
              <a:avLst>
                <a:gd name="adj" fmla="val 448073"/>
              </a:avLst>
            </a:prstGeom>
            <a:solidFill>
              <a:srgbClr val="FF8633"/>
            </a:solidFill>
            <a:ln/>
          </p:spPr>
          <p:txBody>
            <a:bodyPr/>
            <a:lstStyle/>
            <a:p>
              <a:endParaRPr lang="en-GB" sz="1400">
                <a:solidFill>
                  <a:srgbClr val="20328C"/>
                </a:solidFill>
              </a:endParaRPr>
            </a:p>
          </p:txBody>
        </p:sp>
        <p:sp>
          <p:nvSpPr>
            <p:cNvPr id="22" name="Text 16"/>
            <p:cNvSpPr/>
            <p:nvPr/>
          </p:nvSpPr>
          <p:spPr>
            <a:xfrm>
              <a:off x="6992841" y="4703020"/>
              <a:ext cx="2979022" cy="835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b="1" err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Violazioni</a:t>
              </a:r>
              <a:r>
                <a:rPr lang="en-US" sz="1600" b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 Convention</a:t>
              </a:r>
              <a:endParaRPr lang="en-US" sz="1600" b="1">
                <a:solidFill>
                  <a:srgbClr val="20328C"/>
                </a:solidFill>
              </a:endParaRPr>
            </a:p>
          </p:txBody>
        </p:sp>
      </p:grpSp>
      <p:sp>
        <p:nvSpPr>
          <p:cNvPr id="23" name="Text 17"/>
          <p:cNvSpPr/>
          <p:nvPr/>
        </p:nvSpPr>
        <p:spPr>
          <a:xfrm>
            <a:off x="6349125" y="4672097"/>
            <a:ext cx="2979022" cy="81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Naming inconsistenti </a:t>
            </a: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propagati</a:t>
            </a: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 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nel</a:t>
            </a: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 codebase</a:t>
            </a:r>
            <a:endParaRPr lang="en-US" sz="1200">
              <a:solidFill>
                <a:srgbClr val="20328C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465B69-DB12-F962-3112-9C42B940556C}"/>
              </a:ext>
            </a:extLst>
          </p:cNvPr>
          <p:cNvGrpSpPr/>
          <p:nvPr/>
        </p:nvGrpSpPr>
        <p:grpSpPr>
          <a:xfrm>
            <a:off x="9769018" y="4130467"/>
            <a:ext cx="2843916" cy="417846"/>
            <a:chOff x="10194997" y="4703020"/>
            <a:chExt cx="2843916" cy="417846"/>
          </a:xfrm>
        </p:grpSpPr>
        <p:sp>
          <p:nvSpPr>
            <p:cNvPr id="24" name="Shape 18"/>
            <p:cNvSpPr/>
            <p:nvPr/>
          </p:nvSpPr>
          <p:spPr>
            <a:xfrm>
              <a:off x="10194997" y="4811427"/>
              <a:ext cx="108455" cy="126649"/>
            </a:xfrm>
            <a:prstGeom prst="roundRect">
              <a:avLst>
                <a:gd name="adj" fmla="val 448073"/>
              </a:avLst>
            </a:prstGeom>
            <a:solidFill>
              <a:srgbClr val="FF8633"/>
            </a:solidFill>
            <a:ln/>
          </p:spPr>
          <p:txBody>
            <a:bodyPr/>
            <a:lstStyle/>
            <a:p>
              <a:endParaRPr lang="en-GB" sz="1400">
                <a:solidFill>
                  <a:srgbClr val="20328C"/>
                </a:solidFill>
              </a:endParaRPr>
            </a:p>
          </p:txBody>
        </p:sp>
        <p:sp>
          <p:nvSpPr>
            <p:cNvPr id="25" name="Text 19"/>
            <p:cNvSpPr/>
            <p:nvPr/>
          </p:nvSpPr>
          <p:spPr>
            <a:xfrm>
              <a:off x="10326661" y="4703020"/>
              <a:ext cx="2712252" cy="4178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600" b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Discovery </a:t>
              </a:r>
              <a:r>
                <a:rPr lang="en-US" sz="1600" b="1" err="1">
                  <a:solidFill>
                    <a:srgbClr val="20328C"/>
                  </a:solidFill>
                  <a:ea typeface="Libre Baskerville" pitchFamily="34" charset="-122"/>
                  <a:cs typeface="Libre Baskerville" pitchFamily="34" charset="-120"/>
                </a:rPr>
                <a:t>Tardiva</a:t>
              </a:r>
              <a:endParaRPr lang="en-US" sz="1600" b="1">
                <a:solidFill>
                  <a:srgbClr val="20328C"/>
                </a:solidFill>
              </a:endParaRPr>
            </a:p>
          </p:txBody>
        </p:sp>
      </p:grpSp>
      <p:sp>
        <p:nvSpPr>
          <p:cNvPr id="26" name="Text 20"/>
          <p:cNvSpPr/>
          <p:nvPr/>
        </p:nvSpPr>
        <p:spPr>
          <a:xfrm>
            <a:off x="9601274" y="4672097"/>
            <a:ext cx="2712252" cy="813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Problemi</a:t>
            </a: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scoperti</a:t>
            </a:r>
            <a:r>
              <a:rPr lang="en-US" sz="1200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 in </a:t>
            </a:r>
            <a:r>
              <a:rPr lang="en-US" sz="1200" err="1">
                <a:solidFill>
                  <a:srgbClr val="20328C"/>
                </a:solidFill>
                <a:ea typeface="DM Sans" pitchFamily="34" charset="-122"/>
                <a:cs typeface="DM Sans" pitchFamily="34" charset="-120"/>
              </a:rPr>
              <a:t>implementazione</a:t>
            </a:r>
            <a:endParaRPr lang="en-US" sz="1200">
              <a:solidFill>
                <a:srgbClr val="20328C"/>
              </a:solidFill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A11A36D4-458F-6A29-C1CF-CFE60889E321}"/>
              </a:ext>
            </a:extLst>
          </p:cNvPr>
          <p:cNvSpPr/>
          <p:nvPr/>
        </p:nvSpPr>
        <p:spPr>
          <a:xfrm>
            <a:off x="467311" y="1625023"/>
            <a:ext cx="4870078" cy="18009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E370A686-31C8-A656-EDE8-897867095FD3}"/>
              </a:ext>
            </a:extLst>
          </p:cNvPr>
          <p:cNvSpPr/>
          <p:nvPr/>
        </p:nvSpPr>
        <p:spPr>
          <a:xfrm>
            <a:off x="6608798" y="1627934"/>
            <a:ext cx="4870078" cy="180092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7972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6212EAD-8ACB-0233-A505-3CAD82FC534D}"/>
              </a:ext>
            </a:extLst>
          </p:cNvPr>
          <p:cNvGrpSpPr/>
          <p:nvPr/>
        </p:nvGrpSpPr>
        <p:grpSpPr>
          <a:xfrm>
            <a:off x="802351" y="2748863"/>
            <a:ext cx="3129856" cy="2179439"/>
            <a:chOff x="1075028" y="2057447"/>
            <a:chExt cx="3129856" cy="217943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10ADA23-7896-5DF0-E07E-1FBA989635EE}"/>
                </a:ext>
              </a:extLst>
            </p:cNvPr>
            <p:cNvGrpSpPr/>
            <p:nvPr/>
          </p:nvGrpSpPr>
          <p:grpSpPr>
            <a:xfrm>
              <a:off x="1075028" y="2057447"/>
              <a:ext cx="3129856" cy="2179439"/>
              <a:chOff x="650274" y="1431571"/>
              <a:chExt cx="3129856" cy="2179439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C84D543-303B-E842-4DCE-F5490FC7B2D2}"/>
                  </a:ext>
                </a:extLst>
              </p:cNvPr>
              <p:cNvGrpSpPr/>
              <p:nvPr/>
            </p:nvGrpSpPr>
            <p:grpSpPr>
              <a:xfrm>
                <a:off x="650274" y="1431571"/>
                <a:ext cx="3129856" cy="2179439"/>
                <a:chOff x="650274" y="1431571"/>
                <a:chExt cx="3129856" cy="2179439"/>
              </a:xfrm>
            </p:grpSpPr>
            <p:sp>
              <p:nvSpPr>
                <p:cNvPr id="5" name="Shape 1"/>
                <p:cNvSpPr/>
                <p:nvPr/>
              </p:nvSpPr>
              <p:spPr>
                <a:xfrm>
                  <a:off x="650274" y="1431571"/>
                  <a:ext cx="3129856" cy="2179439"/>
                </a:xfrm>
                <a:prstGeom prst="roundRect">
                  <a:avLst>
                    <a:gd name="adj" fmla="val 3314"/>
                  </a:avLst>
                </a:prstGeom>
                <a:ln>
                  <a:solidFill>
                    <a:srgbClr val="20328C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GB" sz="1500">
                    <a:solidFill>
                      <a:srgbClr val="20328C"/>
                    </a:solidFill>
                  </a:endParaRPr>
                </a:p>
              </p:txBody>
            </p:sp>
            <p:sp>
              <p:nvSpPr>
                <p:cNvPr id="6" name="Shape 2"/>
                <p:cNvSpPr/>
                <p:nvPr/>
              </p:nvSpPr>
              <p:spPr>
                <a:xfrm>
                  <a:off x="828570" y="1609867"/>
                  <a:ext cx="515938" cy="515938"/>
                </a:xfrm>
                <a:prstGeom prst="roundRect">
                  <a:avLst>
                    <a:gd name="adj" fmla="val 14767754"/>
                  </a:avLst>
                </a:prstGeom>
                <a:ln>
                  <a:solidFill>
                    <a:srgbClr val="20328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GB" sz="1500">
                    <a:solidFill>
                      <a:srgbClr val="20328C"/>
                    </a:solidFill>
                  </a:endParaRPr>
                </a:p>
              </p:txBody>
            </p:sp>
          </p:grpSp>
          <p:pic>
            <p:nvPicPr>
              <p:cNvPr id="7" name="Image 1" descr="preencoded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70453" y="1751650"/>
                <a:ext cx="232172" cy="232172"/>
              </a:xfrm>
              <a:prstGeom prst="rect">
                <a:avLst/>
              </a:prstGeom>
            </p:spPr>
          </p:pic>
        </p:grpSp>
        <p:sp>
          <p:nvSpPr>
            <p:cNvPr id="8" name="Text 3"/>
            <p:cNvSpPr/>
            <p:nvPr/>
          </p:nvSpPr>
          <p:spPr>
            <a:xfrm>
              <a:off x="1253324" y="2908148"/>
              <a:ext cx="2630983" cy="2686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>
                <a:lnSpc>
                  <a:spcPts val="2083"/>
                </a:lnSpc>
              </a:pPr>
              <a:r>
                <a:rPr lang="en-US" sz="1667" b="1" err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Analisi</a:t>
              </a:r>
              <a:r>
                <a:rPr lang="en-US" sz="1667" b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 </a:t>
              </a:r>
              <a:r>
                <a:rPr lang="en-US" sz="1667" b="1" err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semantica</a:t>
              </a:r>
              <a:r>
                <a:rPr lang="en-US" sz="1667" b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 </a:t>
              </a:r>
              <a:r>
                <a:rPr lang="en-US" sz="1667" b="1" err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profonda</a:t>
              </a:r>
              <a:endParaRPr lang="en-US" sz="1667" b="1">
                <a:solidFill>
                  <a:srgbClr val="20328C"/>
                </a:solidFill>
              </a:endParaRPr>
            </a:p>
          </p:txBody>
        </p:sp>
        <p:sp>
          <p:nvSpPr>
            <p:cNvPr id="9" name="Text 4"/>
            <p:cNvSpPr/>
            <p:nvPr/>
          </p:nvSpPr>
          <p:spPr>
            <a:xfrm>
              <a:off x="1253324" y="3270694"/>
              <a:ext cx="2773263" cy="787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>
                <a:lnSpc>
                  <a:spcPts val="2042"/>
                </a:lnSpc>
              </a:pP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Embedding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vettoriale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identifica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overlap e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ambiguità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non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visibili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sintatticamente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.</a:t>
              </a:r>
              <a:endParaRPr lang="en-US" sz="1333">
                <a:solidFill>
                  <a:srgbClr val="20328C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089FAB7-3FD5-E554-9A83-3190254F4161}"/>
              </a:ext>
            </a:extLst>
          </p:cNvPr>
          <p:cNvGrpSpPr/>
          <p:nvPr/>
        </p:nvGrpSpPr>
        <p:grpSpPr>
          <a:xfrm>
            <a:off x="4613801" y="2725006"/>
            <a:ext cx="3129955" cy="2179439"/>
            <a:chOff x="4349960" y="2057447"/>
            <a:chExt cx="3129955" cy="217943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BC8297A-AC17-F297-35D0-FF959FAE7F3E}"/>
                </a:ext>
              </a:extLst>
            </p:cNvPr>
            <p:cNvGrpSpPr/>
            <p:nvPr/>
          </p:nvGrpSpPr>
          <p:grpSpPr>
            <a:xfrm>
              <a:off x="4349960" y="2057447"/>
              <a:ext cx="3129955" cy="2179439"/>
              <a:chOff x="3936597" y="1431571"/>
              <a:chExt cx="3129955" cy="217943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F8526A3F-E39F-54D8-4BF5-0B14BDE2BAD7}"/>
                  </a:ext>
                </a:extLst>
              </p:cNvPr>
              <p:cNvGrpSpPr/>
              <p:nvPr/>
            </p:nvGrpSpPr>
            <p:grpSpPr>
              <a:xfrm>
                <a:off x="3936597" y="1431571"/>
                <a:ext cx="3129955" cy="2179439"/>
                <a:chOff x="3936597" y="1431571"/>
                <a:chExt cx="3129955" cy="2179439"/>
              </a:xfrm>
            </p:grpSpPr>
            <p:sp>
              <p:nvSpPr>
                <p:cNvPr id="10" name="Shape 5"/>
                <p:cNvSpPr/>
                <p:nvPr/>
              </p:nvSpPr>
              <p:spPr>
                <a:xfrm>
                  <a:off x="3936597" y="1431571"/>
                  <a:ext cx="3129955" cy="2179439"/>
                </a:xfrm>
                <a:prstGeom prst="roundRect">
                  <a:avLst>
                    <a:gd name="adj" fmla="val 3314"/>
                  </a:avLst>
                </a:prstGeom>
                <a:ln>
                  <a:solidFill>
                    <a:srgbClr val="20328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GB" sz="1500">
                    <a:solidFill>
                      <a:srgbClr val="20328C"/>
                    </a:solidFill>
                  </a:endParaRPr>
                </a:p>
              </p:txBody>
            </p:sp>
            <p:sp>
              <p:nvSpPr>
                <p:cNvPr id="11" name="Shape 6"/>
                <p:cNvSpPr/>
                <p:nvPr/>
              </p:nvSpPr>
              <p:spPr>
                <a:xfrm>
                  <a:off x="4114894" y="1609867"/>
                  <a:ext cx="515938" cy="515938"/>
                </a:xfrm>
                <a:prstGeom prst="roundRect">
                  <a:avLst>
                    <a:gd name="adj" fmla="val 14767754"/>
                  </a:avLst>
                </a:prstGeom>
                <a:ln>
                  <a:solidFill>
                    <a:srgbClr val="20328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GB" sz="1500">
                    <a:solidFill>
                      <a:srgbClr val="20328C"/>
                    </a:solidFill>
                  </a:endParaRPr>
                </a:p>
              </p:txBody>
            </p:sp>
          </p:grpSp>
          <p:pic>
            <p:nvPicPr>
              <p:cNvPr id="12" name="Image 2" descr="preencoded.png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256776" y="1751650"/>
                <a:ext cx="232172" cy="232172"/>
              </a:xfrm>
              <a:prstGeom prst="rect">
                <a:avLst/>
              </a:prstGeom>
            </p:spPr>
          </p:pic>
        </p:grpSp>
        <p:sp>
          <p:nvSpPr>
            <p:cNvPr id="13" name="Text 7"/>
            <p:cNvSpPr/>
            <p:nvPr/>
          </p:nvSpPr>
          <p:spPr>
            <a:xfrm>
              <a:off x="4539648" y="2908148"/>
              <a:ext cx="2654201" cy="2686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>
                <a:lnSpc>
                  <a:spcPts val="2083"/>
                </a:lnSpc>
              </a:pPr>
              <a:r>
                <a:rPr lang="en-US" sz="1667" b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Governance DDD </a:t>
              </a:r>
              <a:r>
                <a:rPr lang="en-US" sz="1667" b="1" err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certificata</a:t>
              </a:r>
              <a:endParaRPr lang="en-US" sz="1667" b="1">
                <a:solidFill>
                  <a:srgbClr val="20328C"/>
                </a:solidFill>
              </a:endParaRPr>
            </a:p>
          </p:txBody>
        </p:sp>
        <p:sp>
          <p:nvSpPr>
            <p:cNvPr id="14" name="Text 8"/>
            <p:cNvSpPr/>
            <p:nvPr/>
          </p:nvSpPr>
          <p:spPr>
            <a:xfrm>
              <a:off x="4539648" y="3270694"/>
              <a:ext cx="2773363" cy="7878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>
                <a:lnSpc>
                  <a:spcPts val="2042"/>
                </a:lnSpc>
              </a:pPr>
              <a:r>
                <a:rPr lang="en-US" sz="1333" dirty="0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22 </a:t>
              </a:r>
              <a:r>
                <a:rPr lang="en-US" sz="1333" dirty="0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regole</a:t>
              </a:r>
              <a:r>
                <a:rPr lang="en-US" sz="1333" dirty="0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in 7 </a:t>
              </a:r>
              <a:r>
                <a:rPr lang="en-US" sz="1333" dirty="0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categorie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; LLM (Qwen2.5 14B) per </a:t>
              </a:r>
              <a:r>
                <a:rPr lang="en-US" sz="1333" dirty="0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casi</a:t>
              </a:r>
              <a:r>
                <a:rPr lang="en-US" sz="1333" dirty="0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dirty="0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contestuali</a:t>
              </a:r>
              <a:r>
                <a:rPr lang="en-US" sz="1333" dirty="0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dirty="0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complessi</a:t>
              </a:r>
              <a:r>
                <a:rPr lang="en-US" sz="1333" dirty="0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.</a:t>
              </a:r>
              <a:endParaRPr lang="en-US" sz="1333" dirty="0">
                <a:solidFill>
                  <a:srgbClr val="20328C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02B4765-3D77-F863-55E7-A904AF91438B}"/>
              </a:ext>
            </a:extLst>
          </p:cNvPr>
          <p:cNvGrpSpPr/>
          <p:nvPr/>
        </p:nvGrpSpPr>
        <p:grpSpPr>
          <a:xfrm>
            <a:off x="8425350" y="2725006"/>
            <a:ext cx="3129856" cy="2179439"/>
            <a:chOff x="7606192" y="2057446"/>
            <a:chExt cx="3129856" cy="217943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C6430C9-D5CE-0F96-96A5-A3D6E9D0CE73}"/>
                </a:ext>
              </a:extLst>
            </p:cNvPr>
            <p:cNvGrpSpPr/>
            <p:nvPr/>
          </p:nvGrpSpPr>
          <p:grpSpPr>
            <a:xfrm>
              <a:off x="7606192" y="2057446"/>
              <a:ext cx="3129856" cy="2179439"/>
              <a:chOff x="7925263" y="2277589"/>
              <a:chExt cx="3129856" cy="2179439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209D1A3-96E3-AE9D-D521-63EB1B15C71B}"/>
                  </a:ext>
                </a:extLst>
              </p:cNvPr>
              <p:cNvGrpSpPr/>
              <p:nvPr/>
            </p:nvGrpSpPr>
            <p:grpSpPr>
              <a:xfrm>
                <a:off x="7925263" y="2277589"/>
                <a:ext cx="3129856" cy="2179439"/>
                <a:chOff x="650274" y="1431571"/>
                <a:chExt cx="3129856" cy="2179439"/>
              </a:xfrm>
            </p:grpSpPr>
            <p:sp>
              <p:nvSpPr>
                <p:cNvPr id="30" name="Shape 1">
                  <a:extLst>
                    <a:ext uri="{FF2B5EF4-FFF2-40B4-BE49-F238E27FC236}">
                      <a16:creationId xmlns:a16="http://schemas.microsoft.com/office/drawing/2014/main" id="{F6D9E7A9-9984-8D2B-DD6B-2CEBE7CE7D5B}"/>
                    </a:ext>
                  </a:extLst>
                </p:cNvPr>
                <p:cNvSpPr/>
                <p:nvPr/>
              </p:nvSpPr>
              <p:spPr>
                <a:xfrm>
                  <a:off x="650274" y="1431571"/>
                  <a:ext cx="3129856" cy="2179439"/>
                </a:xfrm>
                <a:prstGeom prst="roundRect">
                  <a:avLst>
                    <a:gd name="adj" fmla="val 3314"/>
                  </a:avLst>
                </a:prstGeom>
                <a:ln>
                  <a:solidFill>
                    <a:srgbClr val="20328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GB" sz="1500">
                    <a:solidFill>
                      <a:srgbClr val="20328C"/>
                    </a:solidFill>
                  </a:endParaRPr>
                </a:p>
              </p:txBody>
            </p:sp>
            <p:sp>
              <p:nvSpPr>
                <p:cNvPr id="31" name="Shape 2">
                  <a:extLst>
                    <a:ext uri="{FF2B5EF4-FFF2-40B4-BE49-F238E27FC236}">
                      <a16:creationId xmlns:a16="http://schemas.microsoft.com/office/drawing/2014/main" id="{AE3EA2D2-E081-1584-66DA-C04FEDE90D49}"/>
                    </a:ext>
                  </a:extLst>
                </p:cNvPr>
                <p:cNvSpPr/>
                <p:nvPr/>
              </p:nvSpPr>
              <p:spPr>
                <a:xfrm>
                  <a:off x="828570" y="1609867"/>
                  <a:ext cx="515938" cy="515938"/>
                </a:xfrm>
                <a:prstGeom prst="roundRect">
                  <a:avLst>
                    <a:gd name="adj" fmla="val 14767754"/>
                  </a:avLst>
                </a:prstGeom>
                <a:ln>
                  <a:solidFill>
                    <a:srgbClr val="20328C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endParaRPr lang="en-GB" sz="1500">
                    <a:solidFill>
                      <a:srgbClr val="20328C"/>
                    </a:solidFill>
                  </a:endParaRPr>
                </a:p>
              </p:txBody>
            </p:sp>
          </p:grpSp>
          <p:pic>
            <p:nvPicPr>
              <p:cNvPr id="32" name="Image 3" descr="preencoded.png">
                <a:extLst>
                  <a:ext uri="{FF2B5EF4-FFF2-40B4-BE49-F238E27FC236}">
                    <a16:creationId xmlns:a16="http://schemas.microsoft.com/office/drawing/2014/main" id="{350FEB13-6E12-CF75-DCA5-86BC2075C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246920" y="2597768"/>
                <a:ext cx="229215" cy="232172"/>
              </a:xfrm>
              <a:prstGeom prst="rect">
                <a:avLst/>
              </a:prstGeom>
            </p:spPr>
          </p:pic>
        </p:grpSp>
        <p:sp>
          <p:nvSpPr>
            <p:cNvPr id="18" name="Text 11"/>
            <p:cNvSpPr/>
            <p:nvPr/>
          </p:nvSpPr>
          <p:spPr>
            <a:xfrm>
              <a:off x="7851664" y="2881307"/>
              <a:ext cx="2149773" cy="2686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>
                <a:lnSpc>
                  <a:spcPts val="2083"/>
                </a:lnSpc>
              </a:pPr>
              <a:r>
                <a:rPr lang="en-US" sz="1667" b="1" err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Raffinamento</a:t>
              </a:r>
              <a:r>
                <a:rPr lang="en-US" sz="1667" b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 </a:t>
              </a:r>
              <a:r>
                <a:rPr lang="en-US" sz="1667" b="1" err="1">
                  <a:solidFill>
                    <a:srgbClr val="20328C"/>
                  </a:solidFill>
                  <a:ea typeface="Roboto Medium" pitchFamily="34" charset="-122"/>
                  <a:cs typeface="Roboto Medium" pitchFamily="34" charset="-120"/>
                </a:rPr>
                <a:t>iterativo</a:t>
              </a:r>
              <a:endParaRPr lang="en-US" sz="1667" b="1">
                <a:solidFill>
                  <a:srgbClr val="20328C"/>
                </a:solidFill>
              </a:endParaRPr>
            </a:p>
          </p:txBody>
        </p:sp>
        <p:sp>
          <p:nvSpPr>
            <p:cNvPr id="19" name="Text 12"/>
            <p:cNvSpPr/>
            <p:nvPr/>
          </p:nvSpPr>
          <p:spPr>
            <a:xfrm>
              <a:off x="7800093" y="3270694"/>
              <a:ext cx="2742055" cy="588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>
                <a:lnSpc>
                  <a:spcPts val="2042"/>
                </a:lnSpc>
              </a:pP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Loop Q&amp;A: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utente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risponde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, </a:t>
              </a:r>
            </a:p>
            <a:p>
              <a:pPr>
                <a:lnSpc>
                  <a:spcPts val="2042"/>
                </a:lnSpc>
              </a:pP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modello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si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aggiorna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</a:t>
              </a:r>
              <a:r>
                <a:rPr lang="en-US" sz="1333" err="1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fino</a:t>
              </a:r>
              <a:r>
                <a:rPr lang="en-US" sz="1333">
                  <a:solidFill>
                    <a:srgbClr val="20328C"/>
                  </a:solidFill>
                  <a:ea typeface="Roboto" pitchFamily="34" charset="-122"/>
                  <a:cs typeface="Roboto" pitchFamily="34" charset="-120"/>
                </a:rPr>
                <a:t> a VALID.</a:t>
              </a:r>
              <a:endParaRPr lang="en-US" sz="1333">
                <a:solidFill>
                  <a:srgbClr val="20328C"/>
                </a:solidFill>
              </a:endParaRPr>
            </a:p>
          </p:txBody>
        </p:sp>
      </p:grpSp>
      <p:sp>
        <p:nvSpPr>
          <p:cNvPr id="37" name="Text 0"/>
          <p:cNvSpPr/>
          <p:nvPr/>
        </p:nvSpPr>
        <p:spPr>
          <a:xfrm>
            <a:off x="272713" y="247832"/>
            <a:ext cx="6608961" cy="4556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>
              <a:lnSpc>
                <a:spcPts val="3583"/>
              </a:lnSpc>
            </a:pPr>
            <a:r>
              <a:rPr lang="en-US" sz="2833" b="1">
                <a:solidFill>
                  <a:srgbClr val="20328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 2: Il Quality Gate </a:t>
            </a:r>
            <a:r>
              <a:rPr lang="en-US" sz="2833" b="1" err="1">
                <a:solidFill>
                  <a:srgbClr val="20328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Intelligente</a:t>
            </a:r>
            <a:endParaRPr lang="en-US" sz="2833" b="1">
              <a:solidFill>
                <a:srgbClr val="20328C"/>
              </a:solidFill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41BC8986-C995-9FB6-DDFC-00DF3F96D588}"/>
              </a:ext>
            </a:extLst>
          </p:cNvPr>
          <p:cNvSpPr txBox="1"/>
          <p:nvPr/>
        </p:nvSpPr>
        <p:spPr>
          <a:xfrm>
            <a:off x="272713" y="1364813"/>
            <a:ext cx="10428790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20328C"/>
                </a:solidFill>
              </a:rPr>
              <a:t>Scopo</a:t>
            </a:r>
            <a:r>
              <a:rPr lang="it-IT">
                <a:solidFill>
                  <a:srgbClr val="20328C"/>
                </a:solidFill>
              </a:rPr>
              <a:t>: prende in input un modello </a:t>
            </a:r>
            <a:r>
              <a:rPr lang="it-IT" b="1">
                <a:solidFill>
                  <a:srgbClr val="20328C"/>
                </a:solidFill>
              </a:rPr>
              <a:t>DDD</a:t>
            </a:r>
            <a:r>
              <a:rPr lang="it-IT">
                <a:solidFill>
                  <a:srgbClr val="20328C"/>
                </a:solidFill>
              </a:rPr>
              <a:t>, lo valida e lo da in input all’ Agent-3</a:t>
            </a:r>
          </a:p>
          <a:p>
            <a:endParaRPr lang="it-IT" b="1">
              <a:solidFill>
                <a:srgbClr val="20328C"/>
              </a:solidFill>
            </a:endParaRPr>
          </a:p>
          <a:p>
            <a:r>
              <a:rPr lang="it-IT" b="1">
                <a:solidFill>
                  <a:srgbClr val="20328C"/>
                </a:solidFill>
              </a:rPr>
              <a:t>Ma cosa significa validarlo?</a:t>
            </a:r>
          </a:p>
        </p:txBody>
      </p:sp>
      <p:sp>
        <p:nvSpPr>
          <p:cNvPr id="38" name="Rettangolo 1">
            <a:extLst>
              <a:ext uri="{FF2B5EF4-FFF2-40B4-BE49-F238E27FC236}">
                <a16:creationId xmlns:a16="http://schemas.microsoft.com/office/drawing/2014/main" id="{A6CFCF72-C3B2-0C7C-8528-396E1F0B6850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20328C"/>
              </a:solidFill>
            </a:endParaRPr>
          </a:p>
        </p:txBody>
      </p:sp>
      <p:pic>
        <p:nvPicPr>
          <p:cNvPr id="39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0014DD85-F580-5E82-76EF-155D9C81CA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63" name="Shape 8">
            <a:extLst>
              <a:ext uri="{FF2B5EF4-FFF2-40B4-BE49-F238E27FC236}">
                <a16:creationId xmlns:a16="http://schemas.microsoft.com/office/drawing/2014/main" id="{DEFFD092-ED87-3D3C-42D1-6AE32CFBAD8D}"/>
              </a:ext>
            </a:extLst>
          </p:cNvPr>
          <p:cNvSpPr/>
          <p:nvPr/>
        </p:nvSpPr>
        <p:spPr>
          <a:xfrm>
            <a:off x="272713" y="5377618"/>
            <a:ext cx="10991255" cy="529531"/>
          </a:xfrm>
          <a:prstGeom prst="roundRect">
            <a:avLst>
              <a:gd name="adj" fmla="val 1439"/>
            </a:avLst>
          </a:prstGeom>
          <a:solidFill>
            <a:srgbClr val="FFD2B3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8B7E2F37-2AAB-C5C8-E80D-F60654331B08}"/>
              </a:ext>
            </a:extLst>
          </p:cNvPr>
          <p:cNvSpPr/>
          <p:nvPr/>
        </p:nvSpPr>
        <p:spPr>
          <a:xfrm>
            <a:off x="746483" y="5526446"/>
            <a:ext cx="1037173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125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Completa:</a:t>
            </a:r>
            <a:r>
              <a:rPr lang="en-US" sz="1125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25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</a:t>
            </a:r>
            <a:r>
              <a:rPr lang="en-US" sz="1125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25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domain_model.json</a:t>
            </a:r>
            <a:r>
              <a:rPr lang="en-US" sz="1125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125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r>
              <a:rPr lang="en-US" sz="1125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25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modello</a:t>
            </a:r>
            <a:r>
              <a:rPr lang="en-US" sz="1125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25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certificato</a:t>
            </a:r>
            <a:r>
              <a:rPr lang="en-US" sz="1125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audit trail </a:t>
            </a:r>
            <a:r>
              <a:rPr lang="en-US" sz="1125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completo</a:t>
            </a:r>
            <a:r>
              <a:rPr lang="en-US" sz="1125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delle </a:t>
            </a:r>
            <a:r>
              <a:rPr lang="en-US" sz="1125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decisioni</a:t>
            </a:r>
            <a:endParaRPr lang="en-US" sz="1125"/>
          </a:p>
        </p:txBody>
      </p:sp>
    </p:spTree>
    <p:extLst>
      <p:ext uri="{BB962C8B-B14F-4D97-AF65-F5344CB8AC3E}">
        <p14:creationId xmlns:p14="http://schemas.microsoft.com/office/powerpoint/2010/main" val="1817604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8760-074C-BAFF-BFEB-3D52F939B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9651553F-74ED-B09B-63D3-68C9CB1C5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" y="1007359"/>
            <a:ext cx="6809025" cy="4204519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F828D913-B7BA-D4E9-ADC1-DD481060153F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20328C"/>
              </a:solidFill>
            </a:endParaRPr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9F8125EB-0D69-5BE4-7DB1-599EED87B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2B6F415-B361-B347-8ABD-E47D4FDA0996}"/>
              </a:ext>
            </a:extLst>
          </p:cNvPr>
          <p:cNvGrpSpPr/>
          <p:nvPr/>
        </p:nvGrpSpPr>
        <p:grpSpPr>
          <a:xfrm>
            <a:off x="176270" y="5430724"/>
            <a:ext cx="11836826" cy="577610"/>
            <a:chOff x="176270" y="5041366"/>
            <a:chExt cx="11836826" cy="577610"/>
          </a:xfrm>
        </p:grpSpPr>
        <p:sp>
          <p:nvSpPr>
            <p:cNvPr id="12" name="Shape 17"/>
            <p:cNvSpPr/>
            <p:nvPr/>
          </p:nvSpPr>
          <p:spPr>
            <a:xfrm>
              <a:off x="176270" y="5041366"/>
              <a:ext cx="11836826" cy="577610"/>
            </a:xfrm>
            <a:prstGeom prst="roundRect">
              <a:avLst>
                <a:gd name="adj" fmla="val 941"/>
              </a:avLst>
            </a:prstGeom>
            <a:solidFill>
              <a:srgbClr val="FFD2B3"/>
            </a:solidFill>
            <a:ln/>
          </p:spPr>
          <p:txBody>
            <a:bodyPr/>
            <a:lstStyle/>
            <a:p>
              <a:endParaRPr lang="en-GB" sz="1500"/>
            </a:p>
          </p:txBody>
        </p:sp>
        <p:sp>
          <p:nvSpPr>
            <p:cNvPr id="23" name="Text 18"/>
            <p:cNvSpPr/>
            <p:nvPr/>
          </p:nvSpPr>
          <p:spPr>
            <a:xfrm>
              <a:off x="303866" y="5064541"/>
              <a:ext cx="1516063" cy="1895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458"/>
                </a:lnSpc>
              </a:pPr>
              <a:r>
                <a:rPr lang="en-US" sz="1167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Setup Time</a:t>
              </a:r>
              <a:endParaRPr lang="en-US" sz="1167" b="1"/>
            </a:p>
          </p:txBody>
        </p:sp>
        <p:sp>
          <p:nvSpPr>
            <p:cNvPr id="24" name="Text 19"/>
            <p:cNvSpPr/>
            <p:nvPr/>
          </p:nvSpPr>
          <p:spPr>
            <a:xfrm>
              <a:off x="303865" y="5300682"/>
              <a:ext cx="9341579" cy="3182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250"/>
                </a:lnSpc>
              </a:pPr>
              <a:r>
                <a:rPr lang="en-US" sz="10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Complete deployment in ~60 minutes (Docker + Ollama + n8n auto-import). Team onboarding under 1 hour. First live analysis same day.</a:t>
              </a:r>
              <a:endParaRPr lang="en-US" sz="1050"/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20AD2A6-6C04-8CE8-0C2B-7D9D8490591E}"/>
              </a:ext>
            </a:extLst>
          </p:cNvPr>
          <p:cNvSpPr txBox="1"/>
          <p:nvPr/>
        </p:nvSpPr>
        <p:spPr>
          <a:xfrm>
            <a:off x="176270" y="88284"/>
            <a:ext cx="8681292" cy="5463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>
            <a:defPPr>
              <a:defRPr lang="en-US"/>
            </a:defPPr>
            <a:lvl1pPr>
              <a:lnSpc>
                <a:spcPts val="3583"/>
              </a:lnSpc>
              <a:defRPr sz="2833" b="1">
                <a:solidFill>
                  <a:srgbClr val="20328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defRPr>
            </a:lvl1pPr>
          </a:lstStyle>
          <a:p>
            <a:r>
              <a:rPr lang="it-IT"/>
              <a:t>Architettura Del Sistema (Docker)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2548E71-6662-B233-804F-15C11D283EFD}"/>
              </a:ext>
            </a:extLst>
          </p:cNvPr>
          <p:cNvSpPr txBox="1"/>
          <p:nvPr/>
        </p:nvSpPr>
        <p:spPr>
          <a:xfrm>
            <a:off x="6298029" y="1816635"/>
            <a:ext cx="59431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20328C"/>
                </a:solidFill>
              </a:rPr>
              <a:t>Agent 1 genera </a:t>
            </a:r>
            <a:r>
              <a:rPr lang="it-IT" b="1">
                <a:solidFill>
                  <a:srgbClr val="20328C"/>
                </a:solidFill>
              </a:rPr>
              <a:t>Domain Model </a:t>
            </a:r>
            <a:r>
              <a:rPr lang="it-IT">
                <a:solidFill>
                  <a:srgbClr val="20328C"/>
                </a:solidFill>
              </a:rPr>
              <a:t>strutturato (JSON)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20328C"/>
                </a:solidFill>
              </a:rPr>
              <a:t>n8n attiva Agent 2 tramite endpoint </a:t>
            </a:r>
            <a:r>
              <a:rPr lang="it-IT" b="1">
                <a:solidFill>
                  <a:srgbClr val="20328C"/>
                </a:solidFill>
              </a:rPr>
              <a:t>/</a:t>
            </a:r>
            <a:r>
              <a:rPr lang="it-IT" b="1" err="1">
                <a:solidFill>
                  <a:srgbClr val="20328C"/>
                </a:solidFill>
              </a:rPr>
              <a:t>analyze</a:t>
            </a:r>
            <a:endParaRPr lang="it-IT" b="1">
              <a:solidFill>
                <a:srgbClr val="2032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20328C"/>
                </a:solidFill>
              </a:rPr>
              <a:t>Agent 2 analizza </a:t>
            </a:r>
            <a:r>
              <a:rPr lang="it-IT" b="1">
                <a:solidFill>
                  <a:srgbClr val="20328C"/>
                </a:solidFill>
              </a:rPr>
              <a:t>semantica</a:t>
            </a:r>
            <a:r>
              <a:rPr lang="it-IT">
                <a:solidFill>
                  <a:srgbClr val="20328C"/>
                </a:solidFill>
              </a:rPr>
              <a:t> e </a:t>
            </a:r>
            <a:r>
              <a:rPr lang="it-IT" b="1">
                <a:solidFill>
                  <a:srgbClr val="20328C"/>
                </a:solidFill>
              </a:rPr>
              <a:t>struttura</a:t>
            </a:r>
            <a:r>
              <a:rPr lang="it-IT">
                <a:solidFill>
                  <a:srgbClr val="20328C"/>
                </a:solidFill>
              </a:rPr>
              <a:t> del modello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20328C"/>
                </a:solidFill>
              </a:rPr>
              <a:t>In caso di interpretazione linguistica complessa, viene attivato </a:t>
            </a:r>
            <a:r>
              <a:rPr lang="it-IT" b="1" err="1">
                <a:solidFill>
                  <a:srgbClr val="20328C"/>
                </a:solidFill>
              </a:rPr>
              <a:t>Ollama</a:t>
            </a:r>
            <a:endParaRPr lang="it-IT" b="1">
              <a:solidFill>
                <a:srgbClr val="20328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20328C"/>
                </a:solidFill>
              </a:rPr>
              <a:t>Agent 2 produce un output </a:t>
            </a:r>
            <a:r>
              <a:rPr lang="it-IT" b="1">
                <a:solidFill>
                  <a:srgbClr val="20328C"/>
                </a:solidFill>
              </a:rPr>
              <a:t>validato</a:t>
            </a:r>
            <a:r>
              <a:rPr lang="it-IT">
                <a:solidFill>
                  <a:srgbClr val="20328C"/>
                </a:solidFill>
              </a:rPr>
              <a:t> per lo step successivo della pipeline</a:t>
            </a:r>
          </a:p>
        </p:txBody>
      </p:sp>
    </p:spTree>
    <p:extLst>
      <p:ext uri="{BB962C8B-B14F-4D97-AF65-F5344CB8AC3E}">
        <p14:creationId xmlns:p14="http://schemas.microsoft.com/office/powerpoint/2010/main" val="3963929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19D5-845B-DB7D-BD76-882F6C39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DD61D8-2C76-356C-F23C-52F7B1F85C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1" t="13602" b="2011"/>
          <a:stretch>
            <a:fillRect/>
          </a:stretch>
        </p:blipFill>
        <p:spPr>
          <a:xfrm>
            <a:off x="590700" y="711077"/>
            <a:ext cx="10802257" cy="332228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5B89B4D6-54CE-2B17-93D8-EA14A8F86C2A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7BF5F033-1CA7-7F02-2F69-C1C0FF91E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63476" y="4632126"/>
            <a:ext cx="5388173" cy="19050"/>
          </a:xfrm>
          <a:prstGeom prst="rect">
            <a:avLst/>
          </a:prstGeom>
          <a:solidFill>
            <a:srgbClr val="FF86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661491" y="4412908"/>
            <a:ext cx="16558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6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 Parsing &amp; Ingestion</a:t>
            </a:r>
            <a:endParaRPr lang="en-US" sz="1600" b="1"/>
          </a:p>
        </p:txBody>
      </p:sp>
      <p:sp>
        <p:nvSpPr>
          <p:cNvPr id="9" name="Text 5"/>
          <p:cNvSpPr/>
          <p:nvPr/>
        </p:nvSpPr>
        <p:spPr>
          <a:xfrm>
            <a:off x="793750" y="4705430"/>
            <a:ext cx="347395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Lettura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validazione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strutturale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domain_model.json</a:t>
            </a:r>
            <a:endParaRPr lang="en-US" sz="1100"/>
          </a:p>
        </p:txBody>
      </p:sp>
      <p:sp>
        <p:nvSpPr>
          <p:cNvPr id="11" name="Shape 7"/>
          <p:cNvSpPr/>
          <p:nvPr/>
        </p:nvSpPr>
        <p:spPr>
          <a:xfrm>
            <a:off x="6207129" y="4610056"/>
            <a:ext cx="5388273" cy="19050"/>
          </a:xfrm>
          <a:prstGeom prst="rect">
            <a:avLst/>
          </a:prstGeom>
          <a:solidFill>
            <a:srgbClr val="FF86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/>
          <p:nvPr/>
        </p:nvSpPr>
        <p:spPr>
          <a:xfrm>
            <a:off x="6207129" y="4412908"/>
            <a:ext cx="165387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6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Semantic Analysis</a:t>
            </a:r>
            <a:endParaRPr lang="en-US" sz="1600" b="1"/>
          </a:p>
        </p:txBody>
      </p:sp>
      <p:sp>
        <p:nvSpPr>
          <p:cNvPr id="13" name="Text 9"/>
          <p:cNvSpPr/>
          <p:nvPr/>
        </p:nvSpPr>
        <p:spPr>
          <a:xfrm>
            <a:off x="6295618" y="4726737"/>
            <a:ext cx="538827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Generazione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embedding e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calcolo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similarità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entità</a:t>
            </a:r>
            <a:endParaRPr lang="en-US" sz="1100"/>
          </a:p>
        </p:txBody>
      </p:sp>
      <p:sp>
        <p:nvSpPr>
          <p:cNvPr id="15" name="Shape 11"/>
          <p:cNvSpPr/>
          <p:nvPr/>
        </p:nvSpPr>
        <p:spPr>
          <a:xfrm>
            <a:off x="661491" y="5497159"/>
            <a:ext cx="5388173" cy="19050"/>
          </a:xfrm>
          <a:prstGeom prst="rect">
            <a:avLst/>
          </a:prstGeom>
          <a:solidFill>
            <a:srgbClr val="FF86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661490" y="5312360"/>
            <a:ext cx="165387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6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Rule Validation</a:t>
            </a:r>
            <a:endParaRPr lang="en-US" sz="1600" b="1"/>
          </a:p>
        </p:txBody>
      </p:sp>
      <p:sp>
        <p:nvSpPr>
          <p:cNvPr id="17" name="Text 13"/>
          <p:cNvSpPr/>
          <p:nvPr/>
        </p:nvSpPr>
        <p:spPr>
          <a:xfrm>
            <a:off x="793749" y="5633166"/>
            <a:ext cx="300200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Applicazione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22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regole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DDD con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supporto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LLM</a:t>
            </a:r>
            <a:endParaRPr lang="en-US" sz="1100"/>
          </a:p>
        </p:txBody>
      </p:sp>
      <p:sp>
        <p:nvSpPr>
          <p:cNvPr id="19" name="Shape 15"/>
          <p:cNvSpPr/>
          <p:nvPr/>
        </p:nvSpPr>
        <p:spPr>
          <a:xfrm>
            <a:off x="6142235" y="5497159"/>
            <a:ext cx="5388273" cy="19050"/>
          </a:xfrm>
          <a:prstGeom prst="rect">
            <a:avLst/>
          </a:prstGeom>
          <a:solidFill>
            <a:srgbClr val="FF863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6207128" y="5309536"/>
            <a:ext cx="196344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6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Interactive Refinement</a:t>
            </a:r>
            <a:endParaRPr lang="en-US" sz="1600" b="1"/>
          </a:p>
        </p:txBody>
      </p:sp>
      <p:sp>
        <p:nvSpPr>
          <p:cNvPr id="21" name="Text 17"/>
          <p:cNvSpPr/>
          <p:nvPr/>
        </p:nvSpPr>
        <p:spPr>
          <a:xfrm>
            <a:off x="6295617" y="5644380"/>
            <a:ext cx="5388273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Loop Q&amp;A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fino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</a:t>
            </a:r>
            <a:r>
              <a:rPr lang="en-US" sz="11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certificazione</a:t>
            </a:r>
            <a:r>
              <a:rPr lang="en-US" sz="11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completa</a:t>
            </a:r>
            <a:endParaRPr lang="en-US" sz="1100"/>
          </a:p>
        </p:txBody>
      </p:sp>
      <p:sp>
        <p:nvSpPr>
          <p:cNvPr id="23" name="Text 0"/>
          <p:cNvSpPr/>
          <p:nvPr/>
        </p:nvSpPr>
        <p:spPr>
          <a:xfrm>
            <a:off x="481914" y="134385"/>
            <a:ext cx="5614086" cy="41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sz="2583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Pipeline di </a:t>
            </a:r>
            <a:r>
              <a:rPr lang="en-US" sz="2583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Validazione</a:t>
            </a:r>
            <a:r>
              <a:rPr lang="en-US" sz="2583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2583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Dettagliata</a:t>
            </a:r>
            <a:r>
              <a:rPr lang="en-US" sz="2583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(n8n)</a:t>
            </a:r>
            <a:endParaRPr lang="en-US" sz="2583" b="1"/>
          </a:p>
        </p:txBody>
      </p:sp>
    </p:spTree>
    <p:extLst>
      <p:ext uri="{BB962C8B-B14F-4D97-AF65-F5344CB8AC3E}">
        <p14:creationId xmlns:p14="http://schemas.microsoft.com/office/powerpoint/2010/main" val="4106866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AF0E7-2C89-55B3-45DA-02240BA4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253370" y="305545"/>
            <a:ext cx="5865204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Pilastro</a:t>
            </a:r>
            <a:r>
              <a:rPr lang="en-US" sz="3125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1: </a:t>
            </a:r>
            <a:r>
              <a:rPr lang="en-US" sz="3125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Analisi</a:t>
            </a:r>
            <a:r>
              <a:rPr lang="en-US" sz="3125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3125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Semantica</a:t>
            </a:r>
            <a:endParaRPr lang="en-US" sz="3125" b="1"/>
          </a:p>
        </p:txBody>
      </p:sp>
      <p:sp>
        <p:nvSpPr>
          <p:cNvPr id="6" name="Text 1"/>
          <p:cNvSpPr/>
          <p:nvPr/>
        </p:nvSpPr>
        <p:spPr>
          <a:xfrm>
            <a:off x="5088681" y="1285461"/>
            <a:ext cx="6911162" cy="106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833"/>
              </a:lnSpc>
            </a:pP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Ogni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entità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viene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trasformata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un embedding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vettoriale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dimensionalità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abilitando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riconoscimento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sofisticato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 pattern.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Calcoliamo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similarità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coseno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entità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appartenenti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diversi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bounded context per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identificare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potenziali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duplicazioni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ambiguità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semantiche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potrebbero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compromettere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l’architettura</a:t>
            </a:r>
            <a:r>
              <a:rPr lang="en-US" sz="14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4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4F59DA-FD22-FE06-61F6-D5407A4CBC1B}"/>
              </a:ext>
            </a:extLst>
          </p:cNvPr>
          <p:cNvGrpSpPr/>
          <p:nvPr/>
        </p:nvGrpSpPr>
        <p:grpSpPr>
          <a:xfrm>
            <a:off x="5002140" y="2929136"/>
            <a:ext cx="3311040" cy="1883668"/>
            <a:chOff x="5108713" y="2664818"/>
            <a:chExt cx="3205025" cy="1855490"/>
          </a:xfrm>
        </p:grpSpPr>
        <p:sp>
          <p:nvSpPr>
            <p:cNvPr id="7" name="Shape 2"/>
            <p:cNvSpPr/>
            <p:nvPr/>
          </p:nvSpPr>
          <p:spPr>
            <a:xfrm>
              <a:off x="5108713" y="2664818"/>
              <a:ext cx="3205025" cy="1855490"/>
            </a:xfrm>
            <a:prstGeom prst="roundRect">
              <a:avLst>
                <a:gd name="adj" fmla="val 411"/>
              </a:avLst>
            </a:prstGeom>
            <a:solidFill>
              <a:srgbClr val="F2EEEE"/>
            </a:solidFill>
            <a:ln w="762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GB" sz="1500"/>
            </a:p>
          </p:txBody>
        </p:sp>
        <p:sp>
          <p:nvSpPr>
            <p:cNvPr id="8" name="Text 3"/>
            <p:cNvSpPr/>
            <p:nvPr/>
          </p:nvSpPr>
          <p:spPr>
            <a:xfrm>
              <a:off x="5192483" y="2811376"/>
              <a:ext cx="3037483" cy="251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958"/>
                </a:lnSpc>
              </a:pPr>
              <a:r>
                <a:rPr lang="en-US" sz="1542" b="1" err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Sovrapposizione</a:t>
              </a:r>
              <a:r>
                <a:rPr lang="en-US" sz="1542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 </a:t>
              </a:r>
              <a:r>
                <a:rPr lang="en-US" sz="1542" b="1" err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Entità</a:t>
              </a:r>
              <a:r>
                <a:rPr lang="en-US" sz="1542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 ≥ 0.85</a:t>
              </a:r>
              <a:endParaRPr lang="en-US" sz="1542" b="1"/>
            </a:p>
          </p:txBody>
        </p:sp>
        <p:sp>
          <p:nvSpPr>
            <p:cNvPr id="9" name="Text 4"/>
            <p:cNvSpPr/>
            <p:nvPr/>
          </p:nvSpPr>
          <p:spPr>
            <a:xfrm>
              <a:off x="5192483" y="3164682"/>
              <a:ext cx="2954270" cy="1188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Segnala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una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potenziale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duplicazione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della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stessa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entità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in bounded context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separati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Richiede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revisione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immediata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e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strategia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di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consolidamento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</a:t>
              </a:r>
              <a:endParaRPr lang="en-US" sz="12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D3B0F3-5127-F2D7-775C-848C5968E01E}"/>
              </a:ext>
            </a:extLst>
          </p:cNvPr>
          <p:cNvGrpSpPr/>
          <p:nvPr/>
        </p:nvGrpSpPr>
        <p:grpSpPr>
          <a:xfrm>
            <a:off x="8591592" y="2913904"/>
            <a:ext cx="3311041" cy="1855490"/>
            <a:chOff x="8450262" y="2664818"/>
            <a:chExt cx="3311041" cy="1855490"/>
          </a:xfrm>
        </p:grpSpPr>
        <p:sp>
          <p:nvSpPr>
            <p:cNvPr id="10" name="Shape 5"/>
            <p:cNvSpPr/>
            <p:nvPr/>
          </p:nvSpPr>
          <p:spPr>
            <a:xfrm>
              <a:off x="8450262" y="2664818"/>
              <a:ext cx="3311041" cy="1855490"/>
            </a:xfrm>
            <a:prstGeom prst="roundRect">
              <a:avLst>
                <a:gd name="adj" fmla="val 411"/>
              </a:avLst>
            </a:prstGeom>
            <a:solidFill>
              <a:srgbClr val="F2EEEE"/>
            </a:solidFill>
            <a:ln w="762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GB" sz="1500"/>
            </a:p>
          </p:txBody>
        </p:sp>
        <p:sp>
          <p:nvSpPr>
            <p:cNvPr id="11" name="Text 6"/>
            <p:cNvSpPr/>
            <p:nvPr/>
          </p:nvSpPr>
          <p:spPr>
            <a:xfrm>
              <a:off x="8617248" y="2831803"/>
              <a:ext cx="2733973" cy="251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958"/>
                </a:lnSpc>
              </a:pPr>
              <a:r>
                <a:rPr lang="en-US" sz="1542" b="1" err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Ambiguità</a:t>
              </a:r>
              <a:r>
                <a:rPr lang="en-US" sz="1542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 </a:t>
              </a:r>
              <a:r>
                <a:rPr lang="en-US" sz="1542" b="1" err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Semantica</a:t>
              </a:r>
              <a:r>
                <a:rPr lang="en-US" sz="1542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 ≥ 0.75</a:t>
              </a:r>
              <a:endParaRPr lang="en-US" sz="1542" b="1"/>
            </a:p>
          </p:txBody>
        </p:sp>
        <p:sp>
          <p:nvSpPr>
            <p:cNvPr id="12" name="Text 7"/>
            <p:cNvSpPr/>
            <p:nvPr/>
          </p:nvSpPr>
          <p:spPr>
            <a:xfrm>
              <a:off x="8617247" y="3164682"/>
              <a:ext cx="3144055" cy="1188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Segnala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termini con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significati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multipli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(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polisemia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)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che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potrebbero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creare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confusione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tra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i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domini. </a:t>
              </a:r>
            </a:p>
            <a:p>
              <a:pPr>
                <a:lnSpc>
                  <a:spcPts val="1833"/>
                </a:lnSpc>
              </a:pP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Essenziale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per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mantenere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un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linguaggio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ubiquo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250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chiaro</a:t>
              </a:r>
              <a:r>
                <a:rPr lang="en-US" sz="1250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</a:t>
              </a:r>
              <a:endParaRPr lang="en-US" sz="1250"/>
            </a:p>
          </p:txBody>
        </p:sp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289C41F1-D73D-89B3-1FE7-E67612F17D86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8922CAE9-61F5-2F5D-8A4D-65E1DDB37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6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CDA67-6648-161A-3FE1-F932FC8EB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A9265A-FC73-5560-3C47-3F02923D3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0" t="16928" r="3095" b="8275"/>
          <a:stretch>
            <a:fillRect/>
          </a:stretch>
        </p:blipFill>
        <p:spPr>
          <a:xfrm>
            <a:off x="6816825" y="1168400"/>
            <a:ext cx="5375175" cy="4521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89544" y="188878"/>
            <a:ext cx="7249224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2958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Pilastro</a:t>
            </a:r>
            <a:r>
              <a:rPr lang="en-US" sz="2958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2: 22 </a:t>
            </a:r>
            <a:r>
              <a:rPr lang="en-US" sz="2958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Regole</a:t>
            </a:r>
            <a:r>
              <a:rPr lang="en-US" sz="2958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DDD + LLM</a:t>
            </a:r>
            <a:endParaRPr lang="en-US" sz="2958" b="1"/>
          </a:p>
        </p:txBody>
      </p:sp>
      <p:sp>
        <p:nvSpPr>
          <p:cNvPr id="6" name="Text 1"/>
          <p:cNvSpPr/>
          <p:nvPr/>
        </p:nvSpPr>
        <p:spPr>
          <a:xfrm>
            <a:off x="258947" y="1100183"/>
            <a:ext cx="629701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framework di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validazione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completo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copre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tutti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aspetti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 Domain-Driven Design,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potenziato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supporto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LLM per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complessi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richiedono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comprensione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contestuale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architetturali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167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sfumate</a:t>
            </a:r>
            <a:r>
              <a:rPr lang="en-US" sz="1167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67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6D8C7C-0727-CE62-B787-39D5E264275D}"/>
              </a:ext>
            </a:extLst>
          </p:cNvPr>
          <p:cNvGrpSpPr/>
          <p:nvPr/>
        </p:nvGrpSpPr>
        <p:grpSpPr>
          <a:xfrm>
            <a:off x="1445641" y="2128949"/>
            <a:ext cx="4712622" cy="4098231"/>
            <a:chOff x="492721" y="2684363"/>
            <a:chExt cx="3751840" cy="3404791"/>
          </a:xfrm>
        </p:grpSpPr>
        <p:sp>
          <p:nvSpPr>
            <p:cNvPr id="7" name="Shape 2"/>
            <p:cNvSpPr/>
            <p:nvPr/>
          </p:nvSpPr>
          <p:spPr>
            <a:xfrm>
              <a:off x="492721" y="2684363"/>
              <a:ext cx="2835770" cy="3404791"/>
            </a:xfrm>
            <a:prstGeom prst="roundRect">
              <a:avLst>
                <a:gd name="adj" fmla="val 1040"/>
              </a:avLst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sz="2800"/>
            </a:p>
          </p:txBody>
        </p:sp>
        <p:sp>
          <p:nvSpPr>
            <p:cNvPr id="8" name="Text 3"/>
            <p:cNvSpPr/>
            <p:nvPr/>
          </p:nvSpPr>
          <p:spPr>
            <a:xfrm>
              <a:off x="703856" y="2805212"/>
              <a:ext cx="2083793" cy="4724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>
                <a:lnSpc>
                  <a:spcPts val="1833"/>
                </a:lnSpc>
              </a:pPr>
              <a:r>
                <a:rPr lang="en-US" sz="1600">
                  <a:solidFill>
                    <a:srgbClr val="0D2386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7 Critical Categories</a:t>
              </a:r>
              <a:endParaRPr lang="en-US" sz="1600"/>
            </a:p>
          </p:txBody>
        </p:sp>
        <p:sp>
          <p:nvSpPr>
            <p:cNvPr id="9" name="Text 4"/>
            <p:cNvSpPr/>
            <p:nvPr/>
          </p:nvSpPr>
          <p:spPr>
            <a:xfrm>
              <a:off x="703856" y="3398639"/>
              <a:ext cx="3540705" cy="264814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t"/>
            <a:lstStyle/>
            <a:p>
              <a:pPr marL="285739" indent="-285739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Domain Classification</a:t>
              </a:r>
              <a:endParaRPr lang="en-US" sz="1400"/>
            </a:p>
            <a:p>
              <a:pPr marL="285739" indent="-285739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Bounded Context Integrity</a:t>
              </a:r>
              <a:endParaRPr lang="en-US" sz="1400"/>
            </a:p>
            <a:p>
              <a:pPr marL="285739" indent="-285739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Entity vs Value Object</a:t>
              </a:r>
              <a:endParaRPr lang="en-US" sz="1400"/>
            </a:p>
            <a:p>
              <a:pPr marL="285739" indent="-285739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Ownership Clarity</a:t>
              </a:r>
              <a:endParaRPr lang="en-US" sz="1400"/>
            </a:p>
            <a:p>
              <a:pPr marL="285739" indent="-285739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Requirement Conflict Resolution</a:t>
              </a:r>
              <a:endParaRPr lang="en-US" sz="1400"/>
            </a:p>
            <a:p>
              <a:pPr marL="285739" indent="-285739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Event Architecture Patterns</a:t>
              </a:r>
              <a:endParaRPr lang="en-US" sz="1400"/>
            </a:p>
            <a:p>
              <a:pPr marL="285739" indent="-285739">
                <a:lnSpc>
                  <a:spcPct val="150000"/>
                </a:lnSpc>
                <a:buSzPct val="100000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Communication Patterns</a:t>
              </a:r>
              <a:endParaRPr lang="en-US" sz="1400"/>
            </a:p>
          </p:txBody>
        </p:sp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D3138999-3F93-20A1-F0E9-D69FD2337928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0514C0C4-337A-63A8-A70A-4F76A26F5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5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E97F9-CBE2-0495-EA6C-BA0FF069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C901D45-7465-0F19-FCBE-99132C5C79EA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81125318-744F-E8E3-61E4-5075F682B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364" y="475258"/>
            <a:ext cx="6724721" cy="483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92"/>
              </a:lnSpc>
            </a:pPr>
            <a:r>
              <a:rPr lang="en-US" sz="3042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Resilienza</a:t>
            </a:r>
            <a:r>
              <a:rPr lang="en-US" sz="3042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e Fallback </a:t>
            </a:r>
            <a:r>
              <a:rPr lang="en-US" sz="3042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Intelligente</a:t>
            </a:r>
            <a:endParaRPr lang="en-US" sz="3042" b="1"/>
          </a:p>
        </p:txBody>
      </p:sp>
      <p:sp>
        <p:nvSpPr>
          <p:cNvPr id="5" name="Text 1"/>
          <p:cNvSpPr/>
          <p:nvPr/>
        </p:nvSpPr>
        <p:spPr>
          <a:xfrm>
            <a:off x="601365" y="1298773"/>
            <a:ext cx="10989270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aspetto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fondamentale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è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sviluppato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è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il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sistema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 fallback multi-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livello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Nell'eventualità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il nostro LLM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dovesse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non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funzionare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problemi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l'Agent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è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progettato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essere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resiliente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continuare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funzionare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attraverso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meccanismi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alternativi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di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analisi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garantendo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sempre un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risultato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affidabile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08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65" y="2115840"/>
            <a:ext cx="5494635" cy="61853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55948" y="2860874"/>
            <a:ext cx="1933178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err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Livello</a:t>
            </a:r>
            <a:r>
              <a:rPr lang="en-US" sz="15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1: LLM</a:t>
            </a:r>
            <a:endParaRPr lang="en-US" sz="1500" b="1"/>
          </a:p>
        </p:txBody>
      </p:sp>
      <p:sp>
        <p:nvSpPr>
          <p:cNvPr id="8" name="Text 3"/>
          <p:cNvSpPr/>
          <p:nvPr/>
        </p:nvSpPr>
        <p:spPr>
          <a:xfrm>
            <a:off x="755948" y="3178374"/>
            <a:ext cx="5185469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Analisi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contestuale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 qwen2.5:14b per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casi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complessi</a:t>
            </a:r>
            <a:endParaRPr lang="en-US" sz="1208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15840"/>
            <a:ext cx="5494635" cy="6185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250583" y="2860874"/>
            <a:ext cx="1968996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err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Livello</a:t>
            </a:r>
            <a:r>
              <a:rPr lang="en-US" sz="15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2: </a:t>
            </a:r>
            <a:r>
              <a:rPr lang="en-US" sz="1500" b="1" err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Euristiche</a:t>
            </a:r>
            <a:endParaRPr lang="en-US" sz="1500" b="1"/>
          </a:p>
        </p:txBody>
      </p:sp>
      <p:sp>
        <p:nvSpPr>
          <p:cNvPr id="11" name="Text 5"/>
          <p:cNvSpPr/>
          <p:nvPr/>
        </p:nvSpPr>
        <p:spPr>
          <a:xfrm>
            <a:off x="6250583" y="3178374"/>
            <a:ext cx="5185469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Regole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statiche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deterministiche</a:t>
            </a: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sempre </a:t>
            </a:r>
            <a:r>
              <a:rPr lang="en-US" sz="1208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disponibili</a:t>
            </a:r>
            <a:endParaRPr lang="en-US" sz="1208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65" y="3557885"/>
            <a:ext cx="5494635" cy="61853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55948" y="4302919"/>
            <a:ext cx="247362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err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Livello</a:t>
            </a:r>
            <a:r>
              <a:rPr lang="en-US" sz="15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3: Guided Review</a:t>
            </a:r>
            <a:endParaRPr lang="en-US" sz="1500" b="1"/>
          </a:p>
        </p:txBody>
      </p:sp>
      <p:sp>
        <p:nvSpPr>
          <p:cNvPr id="14" name="Text 7"/>
          <p:cNvSpPr/>
          <p:nvPr/>
        </p:nvSpPr>
        <p:spPr>
          <a:xfrm>
            <a:off x="755948" y="4620420"/>
            <a:ext cx="5185469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Domande guidate all'architetto per risoluzione manuale</a:t>
            </a:r>
            <a:endParaRPr lang="en-US" sz="1208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557885"/>
            <a:ext cx="5494635" cy="61853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50583" y="4302919"/>
            <a:ext cx="1968203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75"/>
              </a:lnSpc>
            </a:pPr>
            <a:r>
              <a:rPr lang="en-US" sz="1500" b="1" err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Livello</a:t>
            </a:r>
            <a:r>
              <a:rPr lang="en-US" sz="1500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4: Escalation</a:t>
            </a:r>
            <a:endParaRPr lang="en-US" sz="1500" b="1"/>
          </a:p>
        </p:txBody>
      </p:sp>
      <p:sp>
        <p:nvSpPr>
          <p:cNvPr id="17" name="Text 9"/>
          <p:cNvSpPr/>
          <p:nvPr/>
        </p:nvSpPr>
        <p:spPr>
          <a:xfrm>
            <a:off x="6250583" y="4620420"/>
            <a:ext cx="5185469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Segnalazione per revisione manuale esperta</a:t>
            </a:r>
            <a:endParaRPr lang="en-US" sz="1208"/>
          </a:p>
        </p:txBody>
      </p:sp>
      <p:sp>
        <p:nvSpPr>
          <p:cNvPr id="18" name="Text 10"/>
          <p:cNvSpPr/>
          <p:nvPr/>
        </p:nvSpPr>
        <p:spPr>
          <a:xfrm>
            <a:off x="601365" y="5142210"/>
            <a:ext cx="10989270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208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Questo approccio stratificato garantisce che il sistema possa operare efficacemente in qualsiasi condizione, dalla piena disponibilità dei servizi AI fino a scenari di degrado, mantenendo sempre un livello di qualità accettabile nella validazione del modello di dominio.</a:t>
            </a:r>
            <a:endParaRPr lang="en-US" sz="1208"/>
          </a:p>
        </p:txBody>
      </p:sp>
    </p:spTree>
    <p:extLst>
      <p:ext uri="{BB962C8B-B14F-4D97-AF65-F5344CB8AC3E}">
        <p14:creationId xmlns:p14="http://schemas.microsoft.com/office/powerpoint/2010/main" val="283345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E93D5-1F26-96F7-CC4A-F9D05AD3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/>
          <p:cNvSpPr/>
          <p:nvPr/>
        </p:nvSpPr>
        <p:spPr>
          <a:xfrm>
            <a:off x="261084" y="300083"/>
            <a:ext cx="6442065" cy="43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8"/>
              </a:lnSpc>
            </a:pPr>
            <a:r>
              <a:rPr lang="en-US" sz="2750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Pilastro</a:t>
            </a:r>
            <a:r>
              <a:rPr lang="en-US" sz="2750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3: </a:t>
            </a:r>
            <a:r>
              <a:rPr lang="en-US" sz="2750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Raffinamento</a:t>
            </a:r>
            <a:r>
              <a:rPr lang="en-US" sz="2750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e Auto-Fix</a:t>
            </a:r>
            <a:endParaRPr lang="en-US" sz="2750" b="1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700F81-4CCD-9434-2B19-4315333645AA}"/>
              </a:ext>
            </a:extLst>
          </p:cNvPr>
          <p:cNvGrpSpPr/>
          <p:nvPr/>
        </p:nvGrpSpPr>
        <p:grpSpPr>
          <a:xfrm>
            <a:off x="489646" y="1854831"/>
            <a:ext cx="3095328" cy="1374973"/>
            <a:chOff x="431744" y="1643502"/>
            <a:chExt cx="3095328" cy="1374973"/>
          </a:xfrm>
        </p:grpSpPr>
        <p:sp>
          <p:nvSpPr>
            <p:cNvPr id="7" name="Shape 2"/>
            <p:cNvSpPr/>
            <p:nvPr/>
          </p:nvSpPr>
          <p:spPr>
            <a:xfrm>
              <a:off x="431744" y="1643502"/>
              <a:ext cx="3095328" cy="1374973"/>
            </a:xfrm>
            <a:prstGeom prst="roundRect">
              <a:avLst>
                <a:gd name="adj" fmla="val 554"/>
              </a:avLst>
            </a:prstGeom>
            <a:solidFill>
              <a:srgbClr val="F2EEEE"/>
            </a:solidFill>
            <a:ln w="762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GB" sz="1500"/>
            </a:p>
          </p:txBody>
        </p:sp>
        <p:sp>
          <p:nvSpPr>
            <p:cNvPr id="8" name="Text 3"/>
            <p:cNvSpPr/>
            <p:nvPr/>
          </p:nvSpPr>
          <p:spPr>
            <a:xfrm>
              <a:off x="579778" y="1791536"/>
              <a:ext cx="1772047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8"/>
                </a:lnSpc>
              </a:pPr>
              <a:r>
                <a:rPr lang="en-US" sz="1375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Auto-Fix</a:t>
              </a:r>
              <a:endParaRPr lang="en-US" sz="1375" b="1"/>
            </a:p>
          </p:txBody>
        </p:sp>
        <p:sp>
          <p:nvSpPr>
            <p:cNvPr id="9" name="Text 4"/>
            <p:cNvSpPr/>
            <p:nvPr/>
          </p:nvSpPr>
          <p:spPr>
            <a:xfrm>
              <a:off x="579778" y="2076690"/>
              <a:ext cx="2799258" cy="793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2"/>
                </a:lnSpc>
              </a:pP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Violazioni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di naming e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ambiguità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risolte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automaticamente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quando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sicure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e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deterministiche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Riduce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lo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sforzo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manuale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mantenendo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gli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standard di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qualità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</a:t>
              </a:r>
              <a:endParaRPr lang="en-US" sz="1083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1D98611-08D4-AE04-A622-B1546C1B1B76}"/>
              </a:ext>
            </a:extLst>
          </p:cNvPr>
          <p:cNvGrpSpPr/>
          <p:nvPr/>
        </p:nvGrpSpPr>
        <p:grpSpPr>
          <a:xfrm>
            <a:off x="3755756" y="1854831"/>
            <a:ext cx="3095427" cy="1374973"/>
            <a:chOff x="3739943" y="2112799"/>
            <a:chExt cx="3095427" cy="1374973"/>
          </a:xfrm>
        </p:grpSpPr>
        <p:sp>
          <p:nvSpPr>
            <p:cNvPr id="10" name="Shape 5"/>
            <p:cNvSpPr/>
            <p:nvPr/>
          </p:nvSpPr>
          <p:spPr>
            <a:xfrm>
              <a:off x="3739943" y="2112799"/>
              <a:ext cx="3095427" cy="1374973"/>
            </a:xfrm>
            <a:prstGeom prst="roundRect">
              <a:avLst>
                <a:gd name="adj" fmla="val 554"/>
              </a:avLst>
            </a:prstGeom>
            <a:solidFill>
              <a:srgbClr val="F2EEEE"/>
            </a:solidFill>
            <a:ln w="762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GB" sz="1500"/>
            </a:p>
          </p:txBody>
        </p:sp>
        <p:sp>
          <p:nvSpPr>
            <p:cNvPr id="11" name="Text 6"/>
            <p:cNvSpPr/>
            <p:nvPr/>
          </p:nvSpPr>
          <p:spPr>
            <a:xfrm>
              <a:off x="3887978" y="2260833"/>
              <a:ext cx="1772047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8"/>
                </a:lnSpc>
              </a:pPr>
              <a:r>
                <a:rPr lang="en-US" sz="1375" b="1" err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Guidata</a:t>
              </a:r>
              <a:r>
                <a:rPr lang="en-US" sz="1375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 </a:t>
              </a:r>
              <a:r>
                <a:rPr lang="en-US" sz="1375" b="1" err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dall’Utente</a:t>
              </a:r>
              <a:endParaRPr lang="en-US" sz="1375" b="1"/>
            </a:p>
          </p:txBody>
        </p:sp>
        <p:sp>
          <p:nvSpPr>
            <p:cNvPr id="12" name="Text 7"/>
            <p:cNvSpPr/>
            <p:nvPr/>
          </p:nvSpPr>
          <p:spPr>
            <a:xfrm>
              <a:off x="3887978" y="2545987"/>
              <a:ext cx="2799358" cy="7937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2"/>
                </a:lnSpc>
              </a:pPr>
              <a:r>
                <a:rPr lang="en-US" sz="1083" b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3 </a:t>
              </a:r>
              <a:r>
                <a:rPr lang="en-US" sz="1083" b="1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opzioni</a:t>
              </a:r>
              <a:r>
                <a:rPr lang="en-US" sz="1083" b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concrete 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→ 1 di 6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azioni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: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rename_event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/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set_owner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/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reclassify_domain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/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resolve_conflict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/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add_mapping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/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update_pattern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</a:t>
              </a:r>
              <a:endParaRPr lang="en-US" sz="1083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5BD036C-C711-7691-1572-7535F7284B91}"/>
              </a:ext>
            </a:extLst>
          </p:cNvPr>
          <p:cNvGrpSpPr/>
          <p:nvPr/>
        </p:nvGrpSpPr>
        <p:grpSpPr>
          <a:xfrm>
            <a:off x="489646" y="3442734"/>
            <a:ext cx="6345725" cy="978098"/>
            <a:chOff x="489645" y="3560888"/>
            <a:chExt cx="6345725" cy="978098"/>
          </a:xfrm>
        </p:grpSpPr>
        <p:sp>
          <p:nvSpPr>
            <p:cNvPr id="13" name="Shape 8"/>
            <p:cNvSpPr/>
            <p:nvPr/>
          </p:nvSpPr>
          <p:spPr>
            <a:xfrm>
              <a:off x="489645" y="3560888"/>
              <a:ext cx="6345725" cy="978098"/>
            </a:xfrm>
            <a:prstGeom prst="roundRect">
              <a:avLst>
                <a:gd name="adj" fmla="val 779"/>
              </a:avLst>
            </a:prstGeom>
            <a:solidFill>
              <a:srgbClr val="F2EEEE"/>
            </a:solidFill>
            <a:ln w="7620">
              <a:solidFill>
                <a:srgbClr val="D8D4D4"/>
              </a:solidFill>
              <a:prstDash val="solid"/>
            </a:ln>
          </p:spPr>
          <p:txBody>
            <a:bodyPr/>
            <a:lstStyle/>
            <a:p>
              <a:endParaRPr lang="en-GB" sz="1500"/>
            </a:p>
          </p:txBody>
        </p:sp>
        <p:sp>
          <p:nvSpPr>
            <p:cNvPr id="14" name="Text 9"/>
            <p:cNvSpPr/>
            <p:nvPr/>
          </p:nvSpPr>
          <p:spPr>
            <a:xfrm>
              <a:off x="686387" y="3742070"/>
              <a:ext cx="1772047" cy="221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8"/>
                </a:lnSpc>
              </a:pPr>
              <a:r>
                <a:rPr lang="en-US" sz="1375" b="1">
                  <a:solidFill>
                    <a:srgbClr val="12237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Audit Trail</a:t>
              </a:r>
              <a:endParaRPr lang="en-US" sz="1375" b="1"/>
            </a:p>
          </p:txBody>
        </p:sp>
        <p:sp>
          <p:nvSpPr>
            <p:cNvPr id="15" name="Text 10"/>
            <p:cNvSpPr/>
            <p:nvPr/>
          </p:nvSpPr>
          <p:spPr>
            <a:xfrm>
              <a:off x="686387" y="4027224"/>
              <a:ext cx="6000948" cy="39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2"/>
                </a:lnSpc>
              </a:pP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_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userGuidedFixes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· _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ownershipDecisions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· _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conflictResolutions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—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tracciamento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immutabile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di ogni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decisione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</a:t>
              </a:r>
              <a:r>
                <a:rPr lang="en-US" sz="1083" err="1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architetturale</a:t>
              </a:r>
              <a:r>
                <a:rPr lang="en-US" sz="1083">
                  <a:solidFill>
                    <a:srgbClr val="12237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</a:t>
              </a:r>
              <a:endParaRPr lang="en-US" sz="1083"/>
            </a:p>
          </p:txBody>
        </p:sp>
      </p:grpSp>
      <p:sp>
        <p:nvSpPr>
          <p:cNvPr id="16" name="Shape 11"/>
          <p:cNvSpPr/>
          <p:nvPr/>
        </p:nvSpPr>
        <p:spPr>
          <a:xfrm>
            <a:off x="538353" y="5244232"/>
            <a:ext cx="11189564" cy="705048"/>
          </a:xfrm>
          <a:prstGeom prst="roundRect">
            <a:avLst>
              <a:gd name="adj" fmla="val 1081"/>
            </a:avLst>
          </a:prstGeom>
          <a:solidFill>
            <a:srgbClr val="FFD2B3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8" name="Text 12"/>
          <p:cNvSpPr/>
          <p:nvPr/>
        </p:nvSpPr>
        <p:spPr>
          <a:xfrm>
            <a:off x="998927" y="5385916"/>
            <a:ext cx="1051303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Risultato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Un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modello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DDD VALIDO e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certificato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pronto per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generare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specifiche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implementabili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l’Agent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3. </a:t>
            </a:r>
          </a:p>
          <a:p>
            <a:pPr>
              <a:lnSpc>
                <a:spcPts val="1542"/>
              </a:lnSpc>
            </a:pP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Tracciabilità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completa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dai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requisiti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083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all’architettura</a:t>
            </a:r>
            <a:r>
              <a:rPr lang="en-US" sz="1083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083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667DEC9-DC2E-6689-1550-4F060CD1F9D1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1935B437-A6BB-5767-2597-875EBC061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183" y="1515237"/>
            <a:ext cx="5676567" cy="2766594"/>
          </a:xfrm>
          <a:prstGeom prst="rect">
            <a:avLst/>
          </a:prstGeom>
        </p:spPr>
      </p:pic>
      <p:sp>
        <p:nvSpPr>
          <p:cNvPr id="28" name="Text 2"/>
          <p:cNvSpPr/>
          <p:nvPr/>
        </p:nvSpPr>
        <p:spPr>
          <a:xfrm>
            <a:off x="7127939" y="1348748"/>
            <a:ext cx="1531946" cy="41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1600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PRE-APPLY Ingestion</a:t>
            </a:r>
            <a:endParaRPr lang="en-US" sz="1600"/>
          </a:p>
        </p:txBody>
      </p:sp>
      <p:sp>
        <p:nvSpPr>
          <p:cNvPr id="30" name="Text 3"/>
          <p:cNvSpPr/>
          <p:nvPr/>
        </p:nvSpPr>
        <p:spPr>
          <a:xfrm>
            <a:off x="10782933" y="1336880"/>
            <a:ext cx="1531946" cy="56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600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SEMANTIC Analysis</a:t>
            </a:r>
            <a:endParaRPr lang="en-US" sz="1600"/>
          </a:p>
        </p:txBody>
      </p:sp>
      <p:sp>
        <p:nvSpPr>
          <p:cNvPr id="31" name="Text 4"/>
          <p:cNvSpPr/>
          <p:nvPr/>
        </p:nvSpPr>
        <p:spPr>
          <a:xfrm>
            <a:off x="10902502" y="3623398"/>
            <a:ext cx="1625248" cy="30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600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CONFLICT Detection</a:t>
            </a:r>
            <a:endParaRPr lang="en-US" sz="1600"/>
          </a:p>
        </p:txBody>
      </p:sp>
      <p:sp>
        <p:nvSpPr>
          <p:cNvPr id="32" name="Text 5"/>
          <p:cNvSpPr/>
          <p:nvPr/>
        </p:nvSpPr>
        <p:spPr>
          <a:xfrm>
            <a:off x="6703148" y="3644087"/>
            <a:ext cx="1821015" cy="575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950"/>
              </a:lnSpc>
              <a:buNone/>
            </a:pPr>
            <a:r>
              <a:rPr lang="en-US" sz="1600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 Generation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613879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A6D4C-D5CB-66D9-ABAD-A27EEA25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73C56DD2-2E53-2005-2A7D-8F67DC74AE15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9A420183-2FE1-0188-E43B-87687F6B5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58" name="Text 0">
            <a:extLst>
              <a:ext uri="{FF2B5EF4-FFF2-40B4-BE49-F238E27FC236}">
                <a16:creationId xmlns:a16="http://schemas.microsoft.com/office/drawing/2014/main" id="{5716385F-D927-96BF-1083-B46C5C9733C9}"/>
              </a:ext>
            </a:extLst>
          </p:cNvPr>
          <p:cNvSpPr/>
          <p:nvPr/>
        </p:nvSpPr>
        <p:spPr>
          <a:xfrm>
            <a:off x="331128" y="210982"/>
            <a:ext cx="5929808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17"/>
              </a:lnSpc>
            </a:pPr>
            <a:r>
              <a:rPr lang="en-US" sz="3125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Stack Tecnologico Enterprise-Ready</a:t>
            </a:r>
            <a:endParaRPr lang="en-US" sz="3125" b="1"/>
          </a:p>
        </p:txBody>
      </p:sp>
      <p:sp>
        <p:nvSpPr>
          <p:cNvPr id="59" name="Shape 1">
            <a:extLst>
              <a:ext uri="{FF2B5EF4-FFF2-40B4-BE49-F238E27FC236}">
                <a16:creationId xmlns:a16="http://schemas.microsoft.com/office/drawing/2014/main" id="{250861F1-6656-7194-6F68-FD5639ACE309}"/>
              </a:ext>
            </a:extLst>
          </p:cNvPr>
          <p:cNvSpPr/>
          <p:nvPr/>
        </p:nvSpPr>
        <p:spPr>
          <a:xfrm>
            <a:off x="331128" y="986080"/>
            <a:ext cx="1061443" cy="286345"/>
          </a:xfrm>
          <a:prstGeom prst="roundRect">
            <a:avLst>
              <a:gd name="adj" fmla="val 2661"/>
            </a:avLst>
          </a:prstGeom>
          <a:solidFill>
            <a:srgbClr val="FFE1CC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83A96842-35FE-EBC2-8317-9FB0E46D2717}"/>
              </a:ext>
            </a:extLst>
          </p:cNvPr>
          <p:cNvSpPr/>
          <p:nvPr/>
        </p:nvSpPr>
        <p:spPr>
          <a:xfrm>
            <a:off x="427469" y="1034201"/>
            <a:ext cx="868759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0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SOURCE</a:t>
            </a:r>
            <a:endParaRPr lang="en-US" sz="1000"/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F876DB7E-3F99-B1B4-A808-3D1A786D9FAC}"/>
              </a:ext>
            </a:extLst>
          </p:cNvPr>
          <p:cNvSpPr/>
          <p:nvPr/>
        </p:nvSpPr>
        <p:spPr>
          <a:xfrm>
            <a:off x="1472838" y="986080"/>
            <a:ext cx="1597124" cy="286345"/>
          </a:xfrm>
          <a:prstGeom prst="roundRect">
            <a:avLst>
              <a:gd name="adj" fmla="val 2661"/>
            </a:avLst>
          </a:prstGeom>
          <a:solidFill>
            <a:srgbClr val="FFE1CC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62" name="Text 4">
            <a:extLst>
              <a:ext uri="{FF2B5EF4-FFF2-40B4-BE49-F238E27FC236}">
                <a16:creationId xmlns:a16="http://schemas.microsoft.com/office/drawing/2014/main" id="{D2CF3BA1-ED21-C065-1DB5-229E462E0079}"/>
              </a:ext>
            </a:extLst>
          </p:cNvPr>
          <p:cNvSpPr/>
          <p:nvPr/>
        </p:nvSpPr>
        <p:spPr>
          <a:xfrm>
            <a:off x="1569179" y="1034201"/>
            <a:ext cx="1404442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8"/>
              </a:lnSpc>
            </a:pPr>
            <a:r>
              <a:rPr lang="en-US" sz="10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ZERO VENDOR LOCK-IN</a:t>
            </a:r>
            <a:endParaRPr lang="en-US" sz="1000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74A3C4B9-6D51-53DD-D72D-BD9925867CCA}"/>
              </a:ext>
            </a:extLst>
          </p:cNvPr>
          <p:cNvSpPr/>
          <p:nvPr/>
        </p:nvSpPr>
        <p:spPr>
          <a:xfrm>
            <a:off x="331128" y="1426015"/>
            <a:ext cx="10869018" cy="4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 progettato per decisori tecnici: LLM locale su GPU, pipeline Kafka per scalabilità orizzontale, orchestrazione n8n per workflow iterativi e FastAPI/A2A per l’integrazione agent-to-agent. Deployment completo in circa 60 minuti.</a:t>
            </a:r>
            <a:endParaRPr lang="en-US" sz="1250"/>
          </a:p>
        </p:txBody>
      </p:sp>
      <p:pic>
        <p:nvPicPr>
          <p:cNvPr id="64" name="Image 0" descr="preencoded.png">
            <a:extLst>
              <a:ext uri="{FF2B5EF4-FFF2-40B4-BE49-F238E27FC236}">
                <a16:creationId xmlns:a16="http://schemas.microsoft.com/office/drawing/2014/main" id="{F5A9DCF7-F193-3CE6-7D05-9E85F72EA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1128" y="2055062"/>
            <a:ext cx="321270" cy="321270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47899145-7EA9-71FA-99C8-718769184942}"/>
              </a:ext>
            </a:extLst>
          </p:cNvPr>
          <p:cNvSpPr/>
          <p:nvPr/>
        </p:nvSpPr>
        <p:spPr>
          <a:xfrm>
            <a:off x="823054" y="2110228"/>
            <a:ext cx="20082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b="1" err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FastAPI</a:t>
            </a:r>
            <a:r>
              <a:rPr lang="en-US" sz="1542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0.109</a:t>
            </a:r>
            <a:endParaRPr lang="en-US" sz="1542" b="1"/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F4E8DF1E-B4D0-FFF5-0009-EFF3C8687A8B}"/>
              </a:ext>
            </a:extLst>
          </p:cNvPr>
          <p:cNvSpPr/>
          <p:nvPr/>
        </p:nvSpPr>
        <p:spPr>
          <a:xfrm>
            <a:off x="823055" y="2443106"/>
            <a:ext cx="4857254" cy="4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 API leggera + Protocollo A2A v0.3 per interoperabilità trasparente tra agenti e sistemi esterni.</a:t>
            </a:r>
            <a:endParaRPr lang="en-US" sz="1250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049B881D-6751-6112-9E6E-A51A0500DD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0964" y="2055062"/>
            <a:ext cx="321270" cy="321270"/>
          </a:xfrm>
          <a:prstGeom prst="rect">
            <a:avLst/>
          </a:prstGeom>
        </p:spPr>
      </p:pic>
      <p:sp>
        <p:nvSpPr>
          <p:cNvPr id="68" name="Text 8">
            <a:extLst>
              <a:ext uri="{FF2B5EF4-FFF2-40B4-BE49-F238E27FC236}">
                <a16:creationId xmlns:a16="http://schemas.microsoft.com/office/drawing/2014/main" id="{55CE5FC7-8E93-5804-8C56-4673139697AD}"/>
              </a:ext>
            </a:extLst>
          </p:cNvPr>
          <p:cNvSpPr/>
          <p:nvPr/>
        </p:nvSpPr>
        <p:spPr>
          <a:xfrm>
            <a:off x="6342891" y="2110228"/>
            <a:ext cx="20082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b="1" err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Orchestrazione</a:t>
            </a:r>
            <a:r>
              <a:rPr lang="en-US" sz="1542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n8n</a:t>
            </a:r>
            <a:endParaRPr lang="en-US" sz="1542" b="1"/>
          </a:p>
        </p:txBody>
      </p:sp>
      <p:sp>
        <p:nvSpPr>
          <p:cNvPr id="69" name="Text 9">
            <a:extLst>
              <a:ext uri="{FF2B5EF4-FFF2-40B4-BE49-F238E27FC236}">
                <a16:creationId xmlns:a16="http://schemas.microsoft.com/office/drawing/2014/main" id="{34B60532-FB11-352A-FF53-46AEE94C3069}"/>
              </a:ext>
            </a:extLst>
          </p:cNvPr>
          <p:cNvSpPr/>
          <p:nvPr/>
        </p:nvSpPr>
        <p:spPr>
          <a:xfrm>
            <a:off x="6342892" y="2443106"/>
            <a:ext cx="4857254" cy="4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Orchestrazione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iterativa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dei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workflow per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l’automazione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della pipeline di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validazione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correzione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50"/>
          </a:p>
        </p:txBody>
      </p:sp>
      <p:pic>
        <p:nvPicPr>
          <p:cNvPr id="70" name="Image 2" descr="preencoded.png">
            <a:extLst>
              <a:ext uri="{FF2B5EF4-FFF2-40B4-BE49-F238E27FC236}">
                <a16:creationId xmlns:a16="http://schemas.microsoft.com/office/drawing/2014/main" id="{908F9F48-6028-1247-AD54-0C1AA0B6D0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1128" y="3191613"/>
            <a:ext cx="321270" cy="321270"/>
          </a:xfrm>
          <a:prstGeom prst="rect">
            <a:avLst/>
          </a:prstGeom>
        </p:spPr>
      </p:pic>
      <p:sp>
        <p:nvSpPr>
          <p:cNvPr id="71" name="Text 10">
            <a:extLst>
              <a:ext uri="{FF2B5EF4-FFF2-40B4-BE49-F238E27FC236}">
                <a16:creationId xmlns:a16="http://schemas.microsoft.com/office/drawing/2014/main" id="{ECB16BBA-B281-5736-5FBD-6FDFEA57153A}"/>
              </a:ext>
            </a:extLst>
          </p:cNvPr>
          <p:cNvSpPr/>
          <p:nvPr/>
        </p:nvSpPr>
        <p:spPr>
          <a:xfrm>
            <a:off x="823055" y="3246779"/>
            <a:ext cx="201791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Ollama + Qwen2.5 14B</a:t>
            </a:r>
            <a:endParaRPr lang="en-US" sz="1542" b="1"/>
          </a:p>
        </p:txBody>
      </p:sp>
      <p:sp>
        <p:nvSpPr>
          <p:cNvPr id="72" name="Text 11">
            <a:extLst>
              <a:ext uri="{FF2B5EF4-FFF2-40B4-BE49-F238E27FC236}">
                <a16:creationId xmlns:a16="http://schemas.microsoft.com/office/drawing/2014/main" id="{29167CD0-C8CF-11A6-7079-85D969DB3818}"/>
              </a:ext>
            </a:extLst>
          </p:cNvPr>
          <p:cNvSpPr/>
          <p:nvPr/>
        </p:nvSpPr>
        <p:spPr>
          <a:xfrm>
            <a:off x="823055" y="3579657"/>
            <a:ext cx="4857254" cy="4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locale: zero costi API, i dati non lasciano mai la rete aziendale, privacy e conformità garantite.</a:t>
            </a:r>
            <a:endParaRPr lang="en-US" sz="1250"/>
          </a:p>
        </p:txBody>
      </p:sp>
      <p:pic>
        <p:nvPicPr>
          <p:cNvPr id="73" name="Image 3" descr="preencoded.png">
            <a:extLst>
              <a:ext uri="{FF2B5EF4-FFF2-40B4-BE49-F238E27FC236}">
                <a16:creationId xmlns:a16="http://schemas.microsoft.com/office/drawing/2014/main" id="{8AF62ECC-E628-6A6D-CEDF-B5375B483D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0964" y="3191613"/>
            <a:ext cx="321270" cy="321270"/>
          </a:xfrm>
          <a:prstGeom prst="rect">
            <a:avLst/>
          </a:prstGeom>
        </p:spPr>
      </p:pic>
      <p:sp>
        <p:nvSpPr>
          <p:cNvPr id="74" name="Text 12">
            <a:extLst>
              <a:ext uri="{FF2B5EF4-FFF2-40B4-BE49-F238E27FC236}">
                <a16:creationId xmlns:a16="http://schemas.microsoft.com/office/drawing/2014/main" id="{6912825E-F4DF-C1AC-B1B4-CFB49FB571E6}"/>
              </a:ext>
            </a:extLst>
          </p:cNvPr>
          <p:cNvSpPr/>
          <p:nvPr/>
        </p:nvSpPr>
        <p:spPr>
          <a:xfrm>
            <a:off x="6342891" y="3246779"/>
            <a:ext cx="239365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Sentence Transformers</a:t>
            </a:r>
            <a:endParaRPr lang="en-US" sz="1542" b="1"/>
          </a:p>
        </p:txBody>
      </p:sp>
      <p:sp>
        <p:nvSpPr>
          <p:cNvPr id="75" name="Text 13">
            <a:extLst>
              <a:ext uri="{FF2B5EF4-FFF2-40B4-BE49-F238E27FC236}">
                <a16:creationId xmlns:a16="http://schemas.microsoft.com/office/drawing/2014/main" id="{AEE410DF-A58E-FD56-DCFB-41F0565F4A92}"/>
              </a:ext>
            </a:extLst>
          </p:cNvPr>
          <p:cNvSpPr/>
          <p:nvPr/>
        </p:nvSpPr>
        <p:spPr>
          <a:xfrm>
            <a:off x="6342892" y="3579657"/>
            <a:ext cx="4857254" cy="4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Embedding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semantico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ricerca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matching di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concetti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DDD con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5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precisione</a:t>
            </a: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50"/>
          </a:p>
        </p:txBody>
      </p:sp>
      <p:pic>
        <p:nvPicPr>
          <p:cNvPr id="76" name="Image 4" descr="preencoded.png">
            <a:extLst>
              <a:ext uri="{FF2B5EF4-FFF2-40B4-BE49-F238E27FC236}">
                <a16:creationId xmlns:a16="http://schemas.microsoft.com/office/drawing/2014/main" id="{BE1716CB-5985-C0F1-FE3C-917B9C3DC6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1128" y="4328164"/>
            <a:ext cx="321270" cy="321270"/>
          </a:xfrm>
          <a:prstGeom prst="rect">
            <a:avLst/>
          </a:prstGeom>
        </p:spPr>
      </p:pic>
      <p:sp>
        <p:nvSpPr>
          <p:cNvPr id="77" name="Text 14">
            <a:extLst>
              <a:ext uri="{FF2B5EF4-FFF2-40B4-BE49-F238E27FC236}">
                <a16:creationId xmlns:a16="http://schemas.microsoft.com/office/drawing/2014/main" id="{3CAD3056-6A3F-D8AE-D20F-560B3922D68E}"/>
              </a:ext>
            </a:extLst>
          </p:cNvPr>
          <p:cNvSpPr/>
          <p:nvPr/>
        </p:nvSpPr>
        <p:spPr>
          <a:xfrm>
            <a:off x="823054" y="4383330"/>
            <a:ext cx="20082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Docker Compose</a:t>
            </a:r>
            <a:endParaRPr lang="en-US" sz="1542" b="1"/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6F464A4C-79E6-823B-89BE-7BD50AB69A57}"/>
              </a:ext>
            </a:extLst>
          </p:cNvPr>
          <p:cNvSpPr/>
          <p:nvPr/>
        </p:nvSpPr>
        <p:spPr>
          <a:xfrm>
            <a:off x="823055" y="4716208"/>
            <a:ext cx="4857254" cy="4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 ripetibile: ambiente completo pronto in circa 60 minuti per testing e staging.</a:t>
            </a:r>
            <a:endParaRPr lang="en-US" sz="1250"/>
          </a:p>
        </p:txBody>
      </p:sp>
      <p:pic>
        <p:nvPicPr>
          <p:cNvPr id="79" name="Image 5" descr="preencoded.png">
            <a:extLst>
              <a:ext uri="{FF2B5EF4-FFF2-40B4-BE49-F238E27FC236}">
                <a16:creationId xmlns:a16="http://schemas.microsoft.com/office/drawing/2014/main" id="{79E06803-81B8-4E9C-1C09-92186B413C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50964" y="4328164"/>
            <a:ext cx="321270" cy="321270"/>
          </a:xfrm>
          <a:prstGeom prst="rect">
            <a:avLst/>
          </a:prstGeom>
        </p:spPr>
      </p:pic>
      <p:sp>
        <p:nvSpPr>
          <p:cNvPr id="80" name="Text 16">
            <a:extLst>
              <a:ext uri="{FF2B5EF4-FFF2-40B4-BE49-F238E27FC236}">
                <a16:creationId xmlns:a16="http://schemas.microsoft.com/office/drawing/2014/main" id="{672F5241-4704-3134-F580-24304404E811}"/>
              </a:ext>
            </a:extLst>
          </p:cNvPr>
          <p:cNvSpPr/>
          <p:nvPr/>
        </p:nvSpPr>
        <p:spPr>
          <a:xfrm>
            <a:off x="6342891" y="4383330"/>
            <a:ext cx="200828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1542" b="1">
                <a:solidFill>
                  <a:srgbClr val="12237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Apache Kafka</a:t>
            </a:r>
            <a:endParaRPr lang="en-US" sz="1542" b="1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C34A1A63-9970-BD52-7AD4-3CEE52FFCD0A}"/>
              </a:ext>
            </a:extLst>
          </p:cNvPr>
          <p:cNvSpPr/>
          <p:nvPr/>
        </p:nvSpPr>
        <p:spPr>
          <a:xfrm>
            <a:off x="6342892" y="4716208"/>
            <a:ext cx="4857254" cy="4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asincrona pronta (Agent1 → Agent2 → Agent3) per alto throughput e resilienza su larga scala.</a:t>
            </a:r>
            <a:endParaRPr lang="en-US" sz="1250"/>
          </a:p>
        </p:txBody>
      </p:sp>
      <p:sp>
        <p:nvSpPr>
          <p:cNvPr id="82" name="Shape 18">
            <a:extLst>
              <a:ext uri="{FF2B5EF4-FFF2-40B4-BE49-F238E27FC236}">
                <a16:creationId xmlns:a16="http://schemas.microsoft.com/office/drawing/2014/main" id="{BC78F129-6545-E3CF-3C3A-CFCA126BB341}"/>
              </a:ext>
            </a:extLst>
          </p:cNvPr>
          <p:cNvSpPr/>
          <p:nvPr/>
        </p:nvSpPr>
        <p:spPr>
          <a:xfrm>
            <a:off x="331128" y="5345256"/>
            <a:ext cx="10869018" cy="617438"/>
          </a:xfrm>
          <a:prstGeom prst="roundRect">
            <a:avLst>
              <a:gd name="adj" fmla="val 1234"/>
            </a:avLst>
          </a:prstGeom>
          <a:solidFill>
            <a:srgbClr val="FFD2B3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84" name="Text 19">
            <a:extLst>
              <a:ext uri="{FF2B5EF4-FFF2-40B4-BE49-F238E27FC236}">
                <a16:creationId xmlns:a16="http://schemas.microsoft.com/office/drawing/2014/main" id="{95F8A988-1618-81F8-530C-950531A045B9}"/>
              </a:ext>
            </a:extLst>
          </p:cNvPr>
          <p:cNvSpPr/>
          <p:nvPr/>
        </p:nvSpPr>
        <p:spPr>
          <a:xfrm>
            <a:off x="853217" y="5521865"/>
            <a:ext cx="1018629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833"/>
              </a:lnSpc>
            </a:pPr>
            <a:r>
              <a:rPr lang="en-US" sz="125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Vantaggi Chiave: LLM on-prem su GPU (privacy), Kafka-ready per scalabilità, A2A v0.3 per interoperabilità, zero costi di licenza.</a:t>
            </a:r>
            <a:endParaRPr lang="en-US" sz="1250"/>
          </a:p>
        </p:txBody>
      </p:sp>
    </p:spTree>
    <p:extLst>
      <p:ext uri="{BB962C8B-B14F-4D97-AF65-F5344CB8AC3E}">
        <p14:creationId xmlns:p14="http://schemas.microsoft.com/office/powerpoint/2010/main" val="1283423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3EF2B-7349-812E-D605-45E1BC149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B1579D66-9497-61D5-FDEC-B08386928933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20328C"/>
              </a:solidFill>
            </a:endParaRPr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76B4731A-990C-066C-291D-D625432C1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C9222F-B85E-F8CF-AC8F-ED4DE6554789}"/>
              </a:ext>
            </a:extLst>
          </p:cNvPr>
          <p:cNvSpPr txBox="1"/>
          <p:nvPr/>
        </p:nvSpPr>
        <p:spPr>
          <a:xfrm>
            <a:off x="345989" y="149382"/>
            <a:ext cx="5071906" cy="528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33" b="1" err="1">
                <a:solidFill>
                  <a:srgbClr val="20328C"/>
                </a:solidFill>
                <a:latin typeface="Libre Baskerville" panose="02000000000000000000" pitchFamily="2" charset="0"/>
              </a:rPr>
              <a:t>Vantaggi</a:t>
            </a:r>
            <a:r>
              <a:rPr lang="en-GB" sz="2800" b="1">
                <a:solidFill>
                  <a:srgbClr val="20328C"/>
                </a:solidFill>
                <a:latin typeface="Libre Baskerville" panose="02000000000000000000" pitchFamily="2" charset="0"/>
              </a:rPr>
              <a:t> </a:t>
            </a:r>
            <a:r>
              <a:rPr lang="en-GB" sz="2800" b="1" err="1">
                <a:solidFill>
                  <a:srgbClr val="20328C"/>
                </a:solidFill>
                <a:latin typeface="Libre Baskerville" panose="02000000000000000000" pitchFamily="2" charset="0"/>
              </a:rPr>
              <a:t>d’utilizzo</a:t>
            </a:r>
            <a:endParaRPr lang="en-GB" sz="2800" b="1">
              <a:solidFill>
                <a:srgbClr val="20328C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4FF34D03-48FF-B04B-E06F-C6B0DBAFE909}"/>
              </a:ext>
            </a:extLst>
          </p:cNvPr>
          <p:cNvSpPr/>
          <p:nvPr/>
        </p:nvSpPr>
        <p:spPr>
          <a:xfrm>
            <a:off x="515417" y="810387"/>
            <a:ext cx="395416" cy="383060"/>
          </a:xfrm>
          <a:prstGeom prst="ellipse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rgbClr val="20328C"/>
                </a:solidFill>
              </a:rPr>
              <a:t>1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48EC85EF-B219-3EA1-52FB-5DB08BC48ADA}"/>
              </a:ext>
            </a:extLst>
          </p:cNvPr>
          <p:cNvSpPr/>
          <p:nvPr/>
        </p:nvSpPr>
        <p:spPr>
          <a:xfrm>
            <a:off x="515415" y="2056489"/>
            <a:ext cx="395416" cy="383060"/>
          </a:xfrm>
          <a:prstGeom prst="ellipse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rgbClr val="20328C"/>
                </a:solidFill>
              </a:rPr>
              <a:t>2</a:t>
            </a:r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3E6BDE1F-45AA-0F1D-4862-5545D1832441}"/>
              </a:ext>
            </a:extLst>
          </p:cNvPr>
          <p:cNvSpPr/>
          <p:nvPr/>
        </p:nvSpPr>
        <p:spPr>
          <a:xfrm>
            <a:off x="515415" y="3217958"/>
            <a:ext cx="395416" cy="383060"/>
          </a:xfrm>
          <a:prstGeom prst="ellipse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rgbClr val="20328C"/>
                </a:solidFill>
              </a:rPr>
              <a:t>3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898E96C0-CA84-7D05-9588-10757A6471D5}"/>
              </a:ext>
            </a:extLst>
          </p:cNvPr>
          <p:cNvSpPr/>
          <p:nvPr/>
        </p:nvSpPr>
        <p:spPr>
          <a:xfrm>
            <a:off x="515415" y="4379427"/>
            <a:ext cx="395416" cy="383060"/>
          </a:xfrm>
          <a:prstGeom prst="ellipse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>
                <a:solidFill>
                  <a:srgbClr val="20328C"/>
                </a:solidFill>
              </a:rPr>
              <a:t>4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7C2A17E-B28B-A070-C51A-54B0B55767F5}"/>
              </a:ext>
            </a:extLst>
          </p:cNvPr>
          <p:cNvSpPr txBox="1"/>
          <p:nvPr/>
        </p:nvSpPr>
        <p:spPr>
          <a:xfrm>
            <a:off x="910833" y="793162"/>
            <a:ext cx="10565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20328C"/>
                </a:solidFill>
              </a:rPr>
              <a:t>CONVERGENZA VERSO UNO STATO VALID</a:t>
            </a:r>
          </a:p>
          <a:p>
            <a:r>
              <a:rPr lang="it-IT">
                <a:solidFill>
                  <a:srgbClr val="20328C"/>
                </a:solidFill>
              </a:rPr>
              <a:t>Ogni iterazione risolve il numero di </a:t>
            </a:r>
            <a:r>
              <a:rPr lang="it-IT" err="1">
                <a:solidFill>
                  <a:srgbClr val="20328C"/>
                </a:solidFill>
              </a:rPr>
              <a:t>issue</a:t>
            </a:r>
            <a:r>
              <a:rPr lang="it-IT">
                <a:solidFill>
                  <a:srgbClr val="20328C"/>
                </a:solidFill>
              </a:rPr>
              <a:t> e quelli già risolti non vengono riproposti.</a:t>
            </a:r>
          </a:p>
          <a:p>
            <a:r>
              <a:rPr lang="it-IT" err="1">
                <a:solidFill>
                  <a:srgbClr val="20328C"/>
                </a:solidFill>
              </a:rPr>
              <a:t>Parsing</a:t>
            </a:r>
            <a:r>
              <a:rPr lang="it-IT">
                <a:solidFill>
                  <a:srgbClr val="20328C"/>
                </a:solidFill>
              </a:rPr>
              <a:t> &amp; </a:t>
            </a:r>
            <a:r>
              <a:rPr lang="it-IT" err="1">
                <a:solidFill>
                  <a:srgbClr val="20328C"/>
                </a:solidFill>
              </a:rPr>
              <a:t>Ingestion</a:t>
            </a:r>
            <a:r>
              <a:rPr lang="it-IT">
                <a:solidFill>
                  <a:srgbClr val="20328C"/>
                </a:solidFill>
              </a:rPr>
              <a:t> applicano modifiche prima dell’analisi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912607D-67F3-31DA-0C65-9CD8930F638D}"/>
              </a:ext>
            </a:extLst>
          </p:cNvPr>
          <p:cNvSpPr txBox="1"/>
          <p:nvPr/>
        </p:nvSpPr>
        <p:spPr>
          <a:xfrm>
            <a:off x="910831" y="2056489"/>
            <a:ext cx="10565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20328C"/>
                </a:solidFill>
              </a:rPr>
              <a:t>SEPARAZIONE ORCHESTRAZIONE/INTELLIGENZA</a:t>
            </a:r>
          </a:p>
          <a:p>
            <a:r>
              <a:rPr lang="it-IT">
                <a:solidFill>
                  <a:srgbClr val="20328C"/>
                </a:solidFill>
              </a:rPr>
              <a:t>n8n e Agent 2 garantiscono modularità, sostituibilità, scalabilità.</a:t>
            </a:r>
          </a:p>
          <a:p>
            <a:endParaRPr lang="it-IT">
              <a:solidFill>
                <a:srgbClr val="20328C"/>
              </a:solidFill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B7FCFD4-49AC-6E5E-B1B8-EC6E75AE539E}"/>
              </a:ext>
            </a:extLst>
          </p:cNvPr>
          <p:cNvSpPr txBox="1"/>
          <p:nvPr/>
        </p:nvSpPr>
        <p:spPr>
          <a:xfrm>
            <a:off x="910831" y="4346206"/>
            <a:ext cx="10565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20328C"/>
                </a:solidFill>
              </a:rPr>
              <a:t>SCALABILITA’ FUTURA  (KAFKA)</a:t>
            </a:r>
          </a:p>
          <a:p>
            <a:r>
              <a:rPr lang="it-IT">
                <a:solidFill>
                  <a:srgbClr val="20328C"/>
                </a:solidFill>
              </a:rPr>
              <a:t>Passaggio da una pipeline sincrona ad una asincrona</a:t>
            </a:r>
          </a:p>
          <a:p>
            <a:endParaRPr lang="it-IT" b="1">
              <a:solidFill>
                <a:srgbClr val="20328C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8993B263-8FBB-F84A-FBC7-114EC29E691E}"/>
              </a:ext>
            </a:extLst>
          </p:cNvPr>
          <p:cNvSpPr txBox="1"/>
          <p:nvPr/>
        </p:nvSpPr>
        <p:spPr>
          <a:xfrm>
            <a:off x="910831" y="3217958"/>
            <a:ext cx="6198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>
                <a:solidFill>
                  <a:srgbClr val="20328C"/>
                </a:solidFill>
              </a:rPr>
              <a:t>ROBUSTEZZA</a:t>
            </a:r>
          </a:p>
          <a:p>
            <a:r>
              <a:rPr lang="it-IT" dirty="0">
                <a:solidFill>
                  <a:srgbClr val="20328C"/>
                </a:solidFill>
              </a:rPr>
              <a:t>E’ possibile scalare ogni componente indipendentemente </a:t>
            </a:r>
          </a:p>
        </p:txBody>
      </p:sp>
      <p:sp>
        <p:nvSpPr>
          <p:cNvPr id="3" name="Ovale 2">
            <a:extLst>
              <a:ext uri="{FF2B5EF4-FFF2-40B4-BE49-F238E27FC236}">
                <a16:creationId xmlns:a16="http://schemas.microsoft.com/office/drawing/2014/main" id="{16CE9AB8-228B-7263-B131-0D6B746982F2}"/>
              </a:ext>
            </a:extLst>
          </p:cNvPr>
          <p:cNvSpPr/>
          <p:nvPr/>
        </p:nvSpPr>
        <p:spPr>
          <a:xfrm>
            <a:off x="515415" y="5302757"/>
            <a:ext cx="395416" cy="383060"/>
          </a:xfrm>
          <a:prstGeom prst="ellipse">
            <a:avLst/>
          </a:prstGeom>
          <a:ln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20328C"/>
                </a:solidFill>
              </a:rPr>
              <a:t>5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5C10408-4C7A-F871-4589-F655BDE4C271}"/>
              </a:ext>
            </a:extLst>
          </p:cNvPr>
          <p:cNvSpPr txBox="1"/>
          <p:nvPr/>
        </p:nvSpPr>
        <p:spPr>
          <a:xfrm>
            <a:off x="910831" y="5269536"/>
            <a:ext cx="10565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20328C"/>
                </a:solidFill>
              </a:rPr>
              <a:t>ARCHITETTURA CLOUD NATIVE (KUBERNETES-READY)</a:t>
            </a:r>
          </a:p>
          <a:p>
            <a:r>
              <a:rPr lang="it-IT" dirty="0">
                <a:solidFill>
                  <a:srgbClr val="20328C"/>
                </a:solidFill>
              </a:rPr>
              <a:t>Supporto ad auto-scaling, </a:t>
            </a:r>
            <a:r>
              <a:rPr lang="it-IT" dirty="0" err="1">
                <a:solidFill>
                  <a:srgbClr val="20328C"/>
                </a:solidFill>
              </a:rPr>
              <a:t>rolling</a:t>
            </a:r>
            <a:r>
              <a:rPr lang="it-IT" dirty="0">
                <a:solidFill>
                  <a:srgbClr val="20328C"/>
                </a:solidFill>
              </a:rPr>
              <a:t> updates e self-</a:t>
            </a:r>
            <a:r>
              <a:rPr lang="it-IT" dirty="0" err="1">
                <a:solidFill>
                  <a:srgbClr val="20328C"/>
                </a:solidFill>
              </a:rPr>
              <a:t>healing</a:t>
            </a:r>
            <a:endParaRPr lang="it-IT" dirty="0">
              <a:solidFill>
                <a:srgbClr val="20328C"/>
              </a:solidFill>
            </a:endParaRPr>
          </a:p>
          <a:p>
            <a:endParaRPr lang="it-IT" b="1" dirty="0">
              <a:solidFill>
                <a:srgbClr val="2032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730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CE7F-4F75-46F7-8508-1A6AF68B0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3FAAC01-1131-8948-354E-F9D5F98DC89D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954756C4-900F-8BEB-6736-F347F6F6D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8825" y="408816"/>
            <a:ext cx="8087603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8"/>
              </a:lnSpc>
            </a:pPr>
            <a:r>
              <a:rPr lang="en-US" sz="2750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Analisi</a:t>
            </a:r>
            <a:r>
              <a:rPr lang="en-US" sz="2750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ROI: Valore di Business </a:t>
            </a:r>
            <a:r>
              <a:rPr lang="en-US" sz="2750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dell’Agent</a:t>
            </a:r>
            <a:r>
              <a:rPr lang="en-US" sz="2750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2</a:t>
            </a:r>
            <a:endParaRPr lang="en-US" sz="2750" b="1"/>
          </a:p>
        </p:txBody>
      </p:sp>
      <p:sp>
        <p:nvSpPr>
          <p:cNvPr id="5" name="Text 1"/>
          <p:cNvSpPr/>
          <p:nvPr/>
        </p:nvSpPr>
        <p:spPr>
          <a:xfrm>
            <a:off x="348826" y="1064454"/>
            <a:ext cx="1086901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083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Analisi costi-benefici completa che confronta i processi di revisione architetturale manuale con l’automazione dell’Agent 2, dimostrando significativi risparmi di tempo e riduzione del rischio lungo l’intero ciclo di sviluppo software.</a:t>
            </a:r>
            <a:endParaRPr lang="en-US" sz="1083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26" y="1814150"/>
            <a:ext cx="5207794" cy="291633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93209" y="1673955"/>
            <a:ext cx="337601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Confronto</a:t>
            </a:r>
            <a:r>
              <a:rPr lang="en-US" sz="1667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per </a:t>
            </a:r>
            <a:r>
              <a:rPr lang="en-US" sz="1667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Singola</a:t>
            </a:r>
            <a:r>
              <a:rPr lang="en-US" sz="1667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1667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Revisione</a:t>
            </a:r>
            <a:r>
              <a:rPr lang="en-US" sz="1667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del </a:t>
            </a:r>
            <a:r>
              <a:rPr lang="en-US" sz="1667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Modello</a:t>
            </a:r>
            <a:endParaRPr lang="en-US" sz="1667" b="1"/>
          </a:p>
        </p:txBody>
      </p:sp>
      <p:sp>
        <p:nvSpPr>
          <p:cNvPr id="8" name="Text 3"/>
          <p:cNvSpPr/>
          <p:nvPr/>
        </p:nvSpPr>
        <p:spPr>
          <a:xfrm>
            <a:off x="6993208" y="2045926"/>
            <a:ext cx="408295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Revisione</a:t>
            </a: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Manuale</a:t>
            </a: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Senior: 8–16 ore a $100–150/ora = $1.200–$2.400</a:t>
            </a:r>
            <a:endParaRPr lang="en-US" sz="1200"/>
          </a:p>
        </p:txBody>
      </p:sp>
      <p:sp>
        <p:nvSpPr>
          <p:cNvPr id="9" name="Text 4"/>
          <p:cNvSpPr/>
          <p:nvPr/>
        </p:nvSpPr>
        <p:spPr>
          <a:xfrm>
            <a:off x="6993208" y="2538448"/>
            <a:ext cx="357931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Agent 2: 30–90 </a:t>
            </a:r>
            <a:r>
              <a:rPr lang="en-US" sz="12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minuti</a:t>
            </a: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$75–$225</a:t>
            </a:r>
            <a:endParaRPr lang="en-US" sz="1200"/>
          </a:p>
        </p:txBody>
      </p:sp>
      <p:sp>
        <p:nvSpPr>
          <p:cNvPr id="10" name="Text 5"/>
          <p:cNvSpPr/>
          <p:nvPr/>
        </p:nvSpPr>
        <p:spPr>
          <a:xfrm>
            <a:off x="6993208" y="2832533"/>
            <a:ext cx="357931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Risparmio Netto: $900–$2.200 per </a:t>
            </a:r>
            <a:r>
              <a:rPr lang="en-US" sz="12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modello</a:t>
            </a:r>
            <a:endParaRPr lang="en-US" sz="1200"/>
          </a:p>
        </p:txBody>
      </p:sp>
      <p:sp>
        <p:nvSpPr>
          <p:cNvPr id="11" name="Shape 6"/>
          <p:cNvSpPr/>
          <p:nvPr/>
        </p:nvSpPr>
        <p:spPr>
          <a:xfrm>
            <a:off x="6993208" y="3221392"/>
            <a:ext cx="3579317" cy="24011"/>
          </a:xfrm>
          <a:prstGeom prst="rect">
            <a:avLst/>
          </a:prstGeom>
          <a:solidFill>
            <a:srgbClr val="122370">
              <a:alpha val="50000"/>
            </a:srgbClr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2" name="Text 7"/>
          <p:cNvSpPr/>
          <p:nvPr/>
        </p:nvSpPr>
        <p:spPr>
          <a:xfrm>
            <a:off x="6993209" y="3364941"/>
            <a:ext cx="27795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1375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Proiezione</a:t>
            </a:r>
            <a:r>
              <a:rPr lang="en-US" sz="1375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</a:t>
            </a:r>
            <a:r>
              <a:rPr lang="en-US" sz="1375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Annuale</a:t>
            </a:r>
            <a:r>
              <a:rPr lang="en-US" sz="1375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(10 </a:t>
            </a:r>
            <a:r>
              <a:rPr lang="en-US" sz="1375" b="1" err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Progetti</a:t>
            </a:r>
            <a:r>
              <a:rPr lang="en-US" sz="1375" b="1">
                <a:solidFill>
                  <a:srgbClr val="0D238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)</a:t>
            </a:r>
            <a:endParaRPr lang="en-US" sz="1375" b="1"/>
          </a:p>
        </p:txBody>
      </p:sp>
      <p:sp>
        <p:nvSpPr>
          <p:cNvPr id="13" name="Text 8"/>
          <p:cNvSpPr/>
          <p:nvPr/>
        </p:nvSpPr>
        <p:spPr>
          <a:xfrm>
            <a:off x="6993208" y="3692660"/>
            <a:ext cx="3579317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Risparmio </a:t>
            </a:r>
            <a:r>
              <a:rPr lang="en-US" sz="12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revisioni</a:t>
            </a: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$9.000–$22.000</a:t>
            </a:r>
            <a:endParaRPr lang="en-US" sz="1200"/>
          </a:p>
          <a:p>
            <a:pPr marL="285739" indent="-285739">
              <a:lnSpc>
                <a:spcPts val="1542"/>
              </a:lnSpc>
              <a:buSzPct val="100000"/>
              <a:buChar char="•"/>
            </a:pP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Bug </a:t>
            </a:r>
            <a:r>
              <a:rPr lang="en-US" sz="12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prevenuti</a:t>
            </a: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$30.000–$150.000+</a:t>
            </a:r>
            <a:endParaRPr lang="en-US" sz="1200"/>
          </a:p>
          <a:p>
            <a:pPr marL="285739" indent="-285739">
              <a:lnSpc>
                <a:spcPts val="1542"/>
              </a:lnSpc>
              <a:buSzPct val="100000"/>
              <a:buChar char="•"/>
            </a:pP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</a:t>
            </a:r>
            <a:r>
              <a:rPr lang="en-US" sz="1200" err="1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infrastruttura</a:t>
            </a:r>
            <a:r>
              <a:rPr lang="en-US" sz="1200">
                <a:solidFill>
                  <a:srgbClr val="1223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$0–$600/anno</a:t>
            </a:r>
            <a:endParaRPr lang="en-US" sz="1200"/>
          </a:p>
        </p:txBody>
      </p:sp>
      <p:sp>
        <p:nvSpPr>
          <p:cNvPr id="14" name="Text 9"/>
          <p:cNvSpPr/>
          <p:nvPr/>
        </p:nvSpPr>
        <p:spPr>
          <a:xfrm>
            <a:off x="6993208" y="4458034"/>
            <a:ext cx="35793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0" b="1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ROI: 15×–200× in base ai bug </a:t>
            </a:r>
            <a:r>
              <a:rPr lang="en-US" sz="1200" b="1" err="1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prevenuti</a:t>
            </a:r>
            <a:r>
              <a:rPr lang="en-US" sz="1200" b="1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al </a:t>
            </a:r>
            <a:r>
              <a:rPr lang="en-US" sz="1200" b="1" err="1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</a:t>
            </a:r>
            <a:r>
              <a:rPr lang="en-US" sz="1200" b="1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 </a:t>
            </a:r>
            <a:r>
              <a:rPr lang="en-US" sz="1200" b="1" err="1">
                <a:solidFill>
                  <a:srgbClr val="FF86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progetto</a:t>
            </a:r>
            <a:endParaRPr lang="en-US" sz="1200"/>
          </a:p>
        </p:txBody>
      </p:sp>
      <p:sp>
        <p:nvSpPr>
          <p:cNvPr id="15" name="Shape 10"/>
          <p:cNvSpPr/>
          <p:nvPr/>
        </p:nvSpPr>
        <p:spPr>
          <a:xfrm>
            <a:off x="348826" y="5083309"/>
            <a:ext cx="10869018" cy="705048"/>
          </a:xfrm>
          <a:prstGeom prst="roundRect">
            <a:avLst>
              <a:gd name="adj" fmla="val 1081"/>
            </a:avLst>
          </a:prstGeom>
          <a:solidFill>
            <a:srgbClr val="FFD2B3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7" name="Text 11"/>
          <p:cNvSpPr/>
          <p:nvPr/>
        </p:nvSpPr>
        <p:spPr>
          <a:xfrm>
            <a:off x="809400" y="5224993"/>
            <a:ext cx="1026675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IBM Research: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Moltiplicatori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dei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bug: ×6 in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implementazione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×15 in testing, ×50–100 in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produzione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Un bug in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produzione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costa $10.000–$15.000+. La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prevenzione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è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esponenzialmente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più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vantaggiosa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della </a:t>
            </a:r>
            <a:r>
              <a:rPr lang="en-US" sz="1200" b="1" err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correzione</a:t>
            </a:r>
            <a:r>
              <a:rPr lang="en-US" sz="1200" b="1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56853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55C62-070F-65D3-773E-A5565700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86809F5-E341-4551-CFF8-A66DA413B84E}"/>
              </a:ext>
            </a:extLst>
          </p:cNvPr>
          <p:cNvSpPr/>
          <p:nvPr/>
        </p:nvSpPr>
        <p:spPr>
          <a:xfrm>
            <a:off x="0" y="6227180"/>
            <a:ext cx="12192000" cy="630820"/>
          </a:xfrm>
          <a:prstGeom prst="rect">
            <a:avLst/>
          </a:prstGeom>
          <a:solidFill>
            <a:srgbClr val="061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emblema, simbolo, logo, Marchio&#10;&#10;Il contenuto generato dall'IA potrebbe non essere corretto.">
            <a:extLst>
              <a:ext uri="{FF2B5EF4-FFF2-40B4-BE49-F238E27FC236}">
                <a16:creationId xmlns:a16="http://schemas.microsoft.com/office/drawing/2014/main" id="{5AEFDEBB-2701-275D-A884-65EAA3595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119" y="6227180"/>
            <a:ext cx="847514" cy="6308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2F0266A-F744-E886-33CA-D6F24E15F144}"/>
              </a:ext>
            </a:extLst>
          </p:cNvPr>
          <p:cNvSpPr txBox="1"/>
          <p:nvPr/>
        </p:nvSpPr>
        <p:spPr>
          <a:xfrm>
            <a:off x="2141692" y="2056628"/>
            <a:ext cx="7908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>
                <a:solidFill>
                  <a:srgbClr val="20328C"/>
                </a:solidFill>
                <a:latin typeface="Libre Baskerville" panose="02000000000000000000" pitchFamily="2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28520665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f1a76e-6278-4f63-ba23-1ab46d0144b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CB8BBDE4DBDE46A6BD685A897F6647" ma:contentTypeVersion="10" ma:contentTypeDescription="Creare un nuovo documento." ma:contentTypeScope="" ma:versionID="65c6d181f21b91887a60a545c8c67e47">
  <xsd:schema xmlns:xsd="http://www.w3.org/2001/XMLSchema" xmlns:xs="http://www.w3.org/2001/XMLSchema" xmlns:p="http://schemas.microsoft.com/office/2006/metadata/properties" xmlns:ns3="7ef1a76e-6278-4f63-ba23-1ab46d0144bb" targetNamespace="http://schemas.microsoft.com/office/2006/metadata/properties" ma:root="true" ma:fieldsID="13d78a926e9c9436494a8065729be1d9" ns3:_="">
    <xsd:import namespace="7ef1a76e-6278-4f63-ba23-1ab46d0144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f1a76e-6278-4f63-ba23-1ab46d0144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5BB74F-B51B-461F-A459-2BEEB7F7706E}">
  <ds:schemaRefs>
    <ds:schemaRef ds:uri="http://purl.org/dc/terms/"/>
    <ds:schemaRef ds:uri="http://schemas.microsoft.com/office/2006/metadata/properties"/>
    <ds:schemaRef ds:uri="7ef1a76e-6278-4f63-ba23-1ab46d0144bb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C3FDCDA5-D354-4B7F-89F9-B944B39646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57E39A-951F-4B27-9EA5-FFA563C4DE26}">
  <ds:schemaRefs>
    <ds:schemaRef ds:uri="7ef1a76e-6278-4f63-ba23-1ab46d0144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1435</Words>
  <Application>Microsoft Office PowerPoint</Application>
  <PresentationFormat>Widescreen</PresentationFormat>
  <Paragraphs>177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DM Sans</vt:lpstr>
      <vt:lpstr>Libre Baskerville</vt:lpstr>
      <vt:lpstr>Roboto</vt:lpstr>
      <vt:lpstr>Roboto Medium</vt:lpstr>
      <vt:lpstr>Wingdings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dascola</dc:creator>
  <cp:lastModifiedBy>claudio dragotta</cp:lastModifiedBy>
  <cp:revision>1</cp:revision>
  <dcterms:created xsi:type="dcterms:W3CDTF">2026-02-04T11:37:05Z</dcterms:created>
  <dcterms:modified xsi:type="dcterms:W3CDTF">2026-02-24T15:53:08Z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0x010100E6CB8BBDE4DBDE46A6BD685A897F6647</vt:lpwstr>
  </property>
</Properties>
</file>